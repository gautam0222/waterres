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" charset="1" panose="00000000000000000000"/>
      <p:regular r:id="rId19"/>
    </p:embeddedFont>
    <p:embeddedFont>
      <p:font typeface="Libre Baskerville" charset="1" panose="02000000000000000000"/>
      <p:regular r:id="rId20"/>
    </p:embeddedFont>
    <p:embeddedFont>
      <p:font typeface="Open Sans Bold" charset="1" panose="00000000000000000000"/>
      <p:regular r:id="rId21"/>
    </p:embeddedFont>
    <p:embeddedFont>
      <p:font typeface="Calibri (MS) Bold" charset="1" panose="020F0702030404030204"/>
      <p:regular r:id="rId22"/>
    </p:embeddedFont>
    <p:embeddedFont>
      <p:font typeface="Times New Roman MT" charset="1" panose="02030502070405020303"/>
      <p:regular r:id="rId23"/>
    </p:embeddedFont>
    <p:embeddedFont>
      <p:font typeface="Libre Baskerville Bold" charset="1" panose="02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14.png" Type="http://schemas.openxmlformats.org/officeDocument/2006/relationships/image"/><Relationship Id="rId17" Target="../media/image15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15" Target="../media/image22.png" Type="http://schemas.openxmlformats.org/officeDocument/2006/relationships/image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3.png" Type="http://schemas.openxmlformats.org/officeDocument/2006/relationships/image"/><Relationship Id="rId5" Target="https://gamma.app/?utm_source=made-with-gamma" TargetMode="External" Type="http://schemas.openxmlformats.org/officeDocument/2006/relationships/hyperlink"/><Relationship Id="rId6" Target="../media/image16.png" Type="http://schemas.openxmlformats.org/officeDocument/2006/relationships/image"/><Relationship Id="rId7" Target="../media/image15.pn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2" Target="../notesSlides/notesSlide4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6.png" Type="http://schemas.openxmlformats.org/officeDocument/2006/relationships/image"/><Relationship Id="rId5" Target="https://gamma.app/?utm_source=made-with-gamma" TargetMode="External" Type="http://schemas.openxmlformats.org/officeDocument/2006/relationships/hyperlink"/><Relationship Id="rId6" Target="https://gamma.app/?utm_source=made-with-gamma" TargetMode="External" Type="http://schemas.openxmlformats.org/officeDocument/2006/relationships/hyperlink"/><Relationship Id="rId7" Target="../media/image15.pn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amma.app/?utm_source=made-with-gamma" TargetMode="External" Type="http://schemas.openxmlformats.org/officeDocument/2006/relationships/hyperlink"/><Relationship Id="rId11" Target="../media/image15.pn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10.png" Type="http://schemas.openxmlformats.org/officeDocument/2006/relationships/image"/><Relationship Id="rId15" Target="../media/image11.svg" Type="http://schemas.openxmlformats.org/officeDocument/2006/relationships/image"/><Relationship Id="rId16" Target="../media/image34.png" Type="http://schemas.openxmlformats.org/officeDocument/2006/relationships/image"/><Relationship Id="rId2" Target="../notesSlides/notesSlide5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6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https://gamma.app/?utm_source=made-with-gamma" TargetMode="External" Type="http://schemas.openxmlformats.org/officeDocument/2006/relationships/hyperlink"/><Relationship Id="rId9" Target="https://gamma.app/?utm_source=made-with-gamma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35.png" Type="http://schemas.openxmlformats.org/officeDocument/2006/relationships/image"/><Relationship Id="rId2" Target="../notesSlides/notesSlide6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6.png" Type="http://schemas.openxmlformats.org/officeDocument/2006/relationships/image"/><Relationship Id="rId5" Target="https://gamma.app/?utm_source=made-with-gamma" TargetMode="External" Type="http://schemas.openxmlformats.org/officeDocument/2006/relationships/hyperlink"/><Relationship Id="rId6" Target="https://gamma.app/?utm_source=made-with-gamma" TargetMode="External" Type="http://schemas.openxmlformats.org/officeDocument/2006/relationships/hyperlink"/><Relationship Id="rId7" Target="https://gamma.app/?utm_source=made-with-gamma" TargetMode="External" Type="http://schemas.openxmlformats.org/officeDocument/2006/relationships/hyperlink"/><Relationship Id="rId8" Target="../media/image15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amma.app/?utm_source=made-with-gamma" TargetMode="External" Type="http://schemas.openxmlformats.org/officeDocument/2006/relationships/hyperlink"/><Relationship Id="rId11" Target="https://gamma.app/?utm_source=made-with-gamma" TargetMode="External" Type="http://schemas.openxmlformats.org/officeDocument/2006/relationships/hyperlink"/><Relationship Id="rId12" Target="https://gamma.app/?utm_source=made-with-gamma" TargetMode="External" Type="http://schemas.openxmlformats.org/officeDocument/2006/relationships/hyperlink"/><Relationship Id="rId13" Target="../media/image15.png" Type="http://schemas.openxmlformats.org/officeDocument/2006/relationships/image"/><Relationship Id="rId14" Target="../media/image8.png" Type="http://schemas.openxmlformats.org/officeDocument/2006/relationships/image"/><Relationship Id="rId15" Target="../media/image9.svg" Type="http://schemas.openxmlformats.org/officeDocument/2006/relationships/image"/><Relationship Id="rId16" Target="../media/image10.png" Type="http://schemas.openxmlformats.org/officeDocument/2006/relationships/image"/><Relationship Id="rId17" Target="../media/image11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https://gamma.app/?utm_source=made-with-gamma" TargetMode="External" Type="http://schemas.openxmlformats.org/officeDocument/2006/relationships/hyperlink"/><Relationship Id="rId9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svg" Type="http://schemas.openxmlformats.org/officeDocument/2006/relationships/image"/><Relationship Id="rId14" Target="https://gamma.app/?utm_source=made-with-gamma" TargetMode="External" Type="http://schemas.openxmlformats.org/officeDocument/2006/relationships/hyperlink"/><Relationship Id="rId15" Target="https://gamma.app/?utm_source=made-with-gamma" TargetMode="External" Type="http://schemas.openxmlformats.org/officeDocument/2006/relationships/hyperlink"/><Relationship Id="rId16" Target="https://gamma.app/?utm_source=made-with-gamma" TargetMode="External" Type="http://schemas.openxmlformats.org/officeDocument/2006/relationships/hyperlink"/><Relationship Id="rId17" Target="https://gamma.app/?utm_source=made-with-gamma" TargetMode="External" Type="http://schemas.openxmlformats.org/officeDocument/2006/relationships/hyperlink"/><Relationship Id="rId18" Target="../media/image15.png" Type="http://schemas.openxmlformats.org/officeDocument/2006/relationships/image"/><Relationship Id="rId19" Target="../media/image8.png" Type="http://schemas.openxmlformats.org/officeDocument/2006/relationships/image"/><Relationship Id="rId2" Target="../notesSlides/notesSlide8.xml" Type="http://schemas.openxmlformats.org/officeDocument/2006/relationships/notesSlide"/><Relationship Id="rId20" Target="../media/image9.svg" Type="http://schemas.openxmlformats.org/officeDocument/2006/relationships/image"/><Relationship Id="rId21" Target="../media/image10.png" Type="http://schemas.openxmlformats.org/officeDocument/2006/relationships/image"/><Relationship Id="rId22" Target="../media/image11.svg" Type="http://schemas.openxmlformats.org/officeDocument/2006/relationships/image"/><Relationship Id="rId3" Target="https://gamma.app/?utm_source=made-with-gamma" TargetMode="External" Type="http://schemas.openxmlformats.org/officeDocument/2006/relationships/hyperlink"/><Relationship Id="rId4" Target="../media/image16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amma.app/?utm_source=made-with-gamma" TargetMode="External" Type="http://schemas.openxmlformats.org/officeDocument/2006/relationships/hyperlink"/><Relationship Id="rId11" Target="https://gamma.app/?utm_source=made-with-gamma" TargetMode="External" Type="http://schemas.openxmlformats.org/officeDocument/2006/relationships/hyperlink"/><Relationship Id="rId12" Target="https://gamma.app/?utm_source=made-with-gamma" TargetMode="External" Type="http://schemas.openxmlformats.org/officeDocument/2006/relationships/hyperlink"/><Relationship Id="rId13" Target="https://gamma.app/?utm_source=made-with-gamma" TargetMode="External" Type="http://schemas.openxmlformats.org/officeDocument/2006/relationships/hyperlink"/><Relationship Id="rId14" Target="../media/image15.png" Type="http://schemas.openxmlformats.org/officeDocument/2006/relationships/image"/><Relationship Id="rId15" Target="../media/image8.png" Type="http://schemas.openxmlformats.org/officeDocument/2006/relationships/image"/><Relationship Id="rId16" Target="../media/image9.svg" Type="http://schemas.openxmlformats.org/officeDocument/2006/relationships/image"/><Relationship Id="rId17" Target="../media/image10.png" Type="http://schemas.openxmlformats.org/officeDocument/2006/relationships/image"/><Relationship Id="rId18" Target="../media/image11.svg" Type="http://schemas.openxmlformats.org/officeDocument/2006/relationships/image"/><Relationship Id="rId19" Target="../media/image55.pn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50.png" Type="http://schemas.openxmlformats.org/officeDocument/2006/relationships/image"/><Relationship Id="rId4" Target="../media/image51.sv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54.png" Type="http://schemas.openxmlformats.org/officeDocument/2006/relationships/image"/><Relationship Id="rId8" Target="https://gamma.app/?utm_source=made-with-gamma" TargetMode="External" Type="http://schemas.openxmlformats.org/officeDocument/2006/relationships/hyperlink"/><Relationship Id="rId9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5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31138" y="1492155"/>
            <a:ext cx="28575" cy="1091207"/>
            <a:chOff x="0" y="0"/>
            <a:chExt cx="38100" cy="1454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" cy="1454912"/>
            </a:xfrm>
            <a:custGeom>
              <a:avLst/>
              <a:gdLst/>
              <a:ahLst/>
              <a:cxnLst/>
              <a:rect r="r" b="b" t="t" l="l"/>
              <a:pathLst>
                <a:path h="1454912" w="38100">
                  <a:moveTo>
                    <a:pt x="0" y="0"/>
                  </a:moveTo>
                  <a:lnTo>
                    <a:pt x="38100" y="0"/>
                  </a:lnTo>
                  <a:lnTo>
                    <a:pt x="38100" y="1454912"/>
                  </a:lnTo>
                  <a:lnTo>
                    <a:pt x="0" y="1454912"/>
                  </a:lnTo>
                  <a:close/>
                </a:path>
              </a:pathLst>
            </a:custGeom>
            <a:solidFill>
              <a:srgbClr val="403C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431138" y="2818954"/>
            <a:ext cx="10028336" cy="2274986"/>
            <a:chOff x="0" y="0"/>
            <a:chExt cx="13371115" cy="30333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71068" cy="3033268"/>
            </a:xfrm>
            <a:custGeom>
              <a:avLst/>
              <a:gdLst/>
              <a:ahLst/>
              <a:cxnLst/>
              <a:rect r="r" b="b" t="t" l="l"/>
              <a:pathLst>
                <a:path h="3033268" w="13371068">
                  <a:moveTo>
                    <a:pt x="0" y="40005"/>
                  </a:moveTo>
                  <a:cubicBezTo>
                    <a:pt x="0" y="17907"/>
                    <a:pt x="17907" y="0"/>
                    <a:pt x="40005" y="0"/>
                  </a:cubicBezTo>
                  <a:lnTo>
                    <a:pt x="13331062" y="0"/>
                  </a:lnTo>
                  <a:cubicBezTo>
                    <a:pt x="13353160" y="0"/>
                    <a:pt x="13371068" y="17907"/>
                    <a:pt x="13371068" y="40005"/>
                  </a:cubicBezTo>
                  <a:lnTo>
                    <a:pt x="13371068" y="2993263"/>
                  </a:lnTo>
                  <a:cubicBezTo>
                    <a:pt x="13371068" y="3015361"/>
                    <a:pt x="13353160" y="3033268"/>
                    <a:pt x="13331062" y="3033268"/>
                  </a:cubicBezTo>
                  <a:lnTo>
                    <a:pt x="40005" y="3033268"/>
                  </a:lnTo>
                  <a:cubicBezTo>
                    <a:pt x="17907" y="3033268"/>
                    <a:pt x="0" y="3015361"/>
                    <a:pt x="0" y="2993263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631311" y="3019128"/>
            <a:ext cx="600670" cy="600670"/>
            <a:chOff x="0" y="0"/>
            <a:chExt cx="800893" cy="80089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00862" cy="800862"/>
            </a:xfrm>
            <a:custGeom>
              <a:avLst/>
              <a:gdLst/>
              <a:ahLst/>
              <a:cxnLst/>
              <a:rect r="r" b="b" t="t" l="l"/>
              <a:pathLst>
                <a:path h="800862" w="800862">
                  <a:moveTo>
                    <a:pt x="0" y="0"/>
                  </a:moveTo>
                  <a:lnTo>
                    <a:pt x="800862" y="0"/>
                  </a:lnTo>
                  <a:lnTo>
                    <a:pt x="800862" y="800862"/>
                  </a:lnTo>
                  <a:lnTo>
                    <a:pt x="0" y="800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3"/>
              </a:stretch>
            </a:blipFill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7825086" y="3412926"/>
            <a:ext cx="270272" cy="270272"/>
          </a:xfrm>
          <a:custGeom>
            <a:avLst/>
            <a:gdLst/>
            <a:ahLst/>
            <a:cxnLst/>
            <a:rect r="r" b="b" t="t" l="l"/>
            <a:pathLst>
              <a:path h="270272" w="270272">
                <a:moveTo>
                  <a:pt x="0" y="0"/>
                </a:moveTo>
                <a:lnTo>
                  <a:pt x="270273" y="0"/>
                </a:lnTo>
                <a:lnTo>
                  <a:pt x="270273" y="270273"/>
                </a:lnTo>
                <a:lnTo>
                  <a:pt x="0" y="270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431138" y="5294114"/>
            <a:ext cx="10028336" cy="2274986"/>
            <a:chOff x="0" y="0"/>
            <a:chExt cx="13371115" cy="30333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71068" cy="3033268"/>
            </a:xfrm>
            <a:custGeom>
              <a:avLst/>
              <a:gdLst/>
              <a:ahLst/>
              <a:cxnLst/>
              <a:rect r="r" b="b" t="t" l="l"/>
              <a:pathLst>
                <a:path h="3033268" w="13371068">
                  <a:moveTo>
                    <a:pt x="0" y="40005"/>
                  </a:moveTo>
                  <a:cubicBezTo>
                    <a:pt x="0" y="17907"/>
                    <a:pt x="17907" y="0"/>
                    <a:pt x="40005" y="0"/>
                  </a:cubicBezTo>
                  <a:lnTo>
                    <a:pt x="13331062" y="0"/>
                  </a:lnTo>
                  <a:cubicBezTo>
                    <a:pt x="13353160" y="0"/>
                    <a:pt x="13371068" y="17907"/>
                    <a:pt x="13371068" y="40005"/>
                  </a:cubicBezTo>
                  <a:lnTo>
                    <a:pt x="13371068" y="2993263"/>
                  </a:lnTo>
                  <a:cubicBezTo>
                    <a:pt x="13371068" y="3015361"/>
                    <a:pt x="13353160" y="3033268"/>
                    <a:pt x="13331062" y="3033268"/>
                  </a:cubicBezTo>
                  <a:lnTo>
                    <a:pt x="40005" y="3033268"/>
                  </a:lnTo>
                  <a:cubicBezTo>
                    <a:pt x="17907" y="3033268"/>
                    <a:pt x="0" y="3015361"/>
                    <a:pt x="0" y="2993263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7631311" y="5494287"/>
            <a:ext cx="600670" cy="600670"/>
            <a:chOff x="0" y="0"/>
            <a:chExt cx="800893" cy="800893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800862" cy="800862"/>
            </a:xfrm>
            <a:custGeom>
              <a:avLst/>
              <a:gdLst/>
              <a:ahLst/>
              <a:cxnLst/>
              <a:rect r="r" b="b" t="t" l="l"/>
              <a:pathLst>
                <a:path h="800862" w="800862">
                  <a:moveTo>
                    <a:pt x="0" y="0"/>
                  </a:moveTo>
                  <a:lnTo>
                    <a:pt x="800862" y="0"/>
                  </a:lnTo>
                  <a:lnTo>
                    <a:pt x="800862" y="800862"/>
                  </a:lnTo>
                  <a:lnTo>
                    <a:pt x="0" y="800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-3"/>
              </a:stretch>
            </a:blip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7796511" y="5659488"/>
            <a:ext cx="270272" cy="270272"/>
          </a:xfrm>
          <a:custGeom>
            <a:avLst/>
            <a:gdLst/>
            <a:ahLst/>
            <a:cxnLst/>
            <a:rect r="r" b="b" t="t" l="l"/>
            <a:pathLst>
              <a:path h="270272" w="270272">
                <a:moveTo>
                  <a:pt x="0" y="0"/>
                </a:moveTo>
                <a:lnTo>
                  <a:pt x="270273" y="0"/>
                </a:lnTo>
                <a:lnTo>
                  <a:pt x="270273" y="270272"/>
                </a:lnTo>
                <a:lnTo>
                  <a:pt x="0" y="2702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5517" t="0" r="-15517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9232" y="1154086"/>
            <a:ext cx="7232800" cy="8356622"/>
          </a:xfrm>
          <a:custGeom>
            <a:avLst/>
            <a:gdLst/>
            <a:ahLst/>
            <a:cxnLst/>
            <a:rect r="r" b="b" t="t" l="l"/>
            <a:pathLst>
              <a:path h="8356622" w="7232800">
                <a:moveTo>
                  <a:pt x="0" y="0"/>
                </a:moveTo>
                <a:lnTo>
                  <a:pt x="7232800" y="0"/>
                </a:lnTo>
                <a:lnTo>
                  <a:pt x="7232800" y="8356622"/>
                </a:lnTo>
                <a:lnTo>
                  <a:pt x="0" y="83566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53" t="-2819" r="-11052" b="-1143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531299" y="1477709"/>
            <a:ext cx="9728001" cy="114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19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Ma</a:t>
            </a:r>
            <a:r>
              <a:rPr lang="en-US" sz="19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naging water reservoirs efficiently is crucial for agriculture, energy, and sustainability.</a:t>
            </a:r>
          </a:p>
          <a:p>
            <a:pPr algn="l">
              <a:lnSpc>
                <a:spcPts val="297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631311" y="3810446"/>
            <a:ext cx="2503289" cy="32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Project Goal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31311" y="4195762"/>
            <a:ext cx="9627989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5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Use</a:t>
            </a:r>
            <a:r>
              <a:rPr lang="en-US" sz="15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machine learning to predict reservoir storage levels, efficiency, and risk of depletion based on historical and environmental data.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31311" y="6285607"/>
            <a:ext cx="2503289" cy="32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Motivation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631311" y="6661397"/>
            <a:ext cx="9828163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0"/>
              </a:lnSpc>
            </a:pPr>
            <a:r>
              <a:rPr lang="en-US" sz="17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Tr</a:t>
            </a:r>
            <a:r>
              <a:rPr lang="en-US" sz="17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aditional monitoring is manual and reactive; data science enables proactive water management &amp; forecasting. This system enables </a:t>
            </a:r>
            <a:r>
              <a:rPr lang="en-US" sz="1762" b="true">
                <a:solidFill>
                  <a:srgbClr val="403C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data-driven, consistent, and fast decisions.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02724" y="7870612"/>
            <a:ext cx="2503289" cy="32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9"/>
              </a:lnSpc>
            </a:pPr>
            <a:r>
              <a:rPr lang="en-US" sz="2137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Core Tools Used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86294" y="7826275"/>
            <a:ext cx="687318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0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Python, Pandas, Scikit-learn, TensorFlow, and XGBoost.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348" y="9574476"/>
            <a:ext cx="18288000" cy="714375"/>
          </a:xfrm>
          <a:custGeom>
            <a:avLst/>
            <a:gdLst/>
            <a:ahLst/>
            <a:cxnLst/>
            <a:rect r="r" b="b" t="t" l="l"/>
            <a:pathLst>
              <a:path h="714375" w="18288000">
                <a:moveTo>
                  <a:pt x="0" y="0"/>
                </a:moveTo>
                <a:lnTo>
                  <a:pt x="18288000" y="0"/>
                </a:lnTo>
                <a:lnTo>
                  <a:pt x="182880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76380" y="9735822"/>
            <a:ext cx="6371483" cy="410199"/>
          </a:xfrm>
          <a:custGeom>
            <a:avLst/>
            <a:gdLst/>
            <a:ahLst/>
            <a:cxnLst/>
            <a:rect r="r" b="b" t="t" l="l"/>
            <a:pathLst>
              <a:path h="410199" w="6371483">
                <a:moveTo>
                  <a:pt x="0" y="0"/>
                </a:moveTo>
                <a:lnTo>
                  <a:pt x="6371483" y="0"/>
                </a:lnTo>
                <a:lnTo>
                  <a:pt x="6371483" y="410199"/>
                </a:lnTo>
                <a:lnTo>
                  <a:pt x="0" y="4101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079" r="0" b="-1079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213568" y="9563672"/>
            <a:ext cx="11073289" cy="716947"/>
          </a:xfrm>
          <a:custGeom>
            <a:avLst/>
            <a:gdLst/>
            <a:ahLst/>
            <a:cxnLst/>
            <a:rect r="r" b="b" t="t" l="l"/>
            <a:pathLst>
              <a:path h="716947" w="11073289">
                <a:moveTo>
                  <a:pt x="0" y="0"/>
                </a:moveTo>
                <a:lnTo>
                  <a:pt x="11073289" y="0"/>
                </a:lnTo>
                <a:lnTo>
                  <a:pt x="11073289" y="716947"/>
                </a:lnTo>
                <a:lnTo>
                  <a:pt x="0" y="7169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7306938" y="9595467"/>
            <a:ext cx="10922221" cy="626173"/>
            <a:chOff x="0" y="0"/>
            <a:chExt cx="14562961" cy="83489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562962" cy="834898"/>
            </a:xfrm>
            <a:custGeom>
              <a:avLst/>
              <a:gdLst/>
              <a:ahLst/>
              <a:cxnLst/>
              <a:rect r="r" b="b" t="t" l="l"/>
              <a:pathLst>
                <a:path h="834898" w="14562962">
                  <a:moveTo>
                    <a:pt x="0" y="0"/>
                  </a:moveTo>
                  <a:lnTo>
                    <a:pt x="14562962" y="0"/>
                  </a:lnTo>
                  <a:lnTo>
                    <a:pt x="14562962" y="834898"/>
                  </a:lnTo>
                  <a:lnTo>
                    <a:pt x="0" y="8348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235" t="0" r="-235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887450" y="9639300"/>
            <a:ext cx="4114800" cy="576263"/>
            <a:chOff x="0" y="0"/>
            <a:chExt cx="5486400" cy="7683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-122782" y="84111"/>
            <a:ext cx="18287999" cy="1050879"/>
            <a:chOff x="0" y="0"/>
            <a:chExt cx="24383999" cy="14011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84000" cy="1401191"/>
            </a:xfrm>
            <a:custGeom>
              <a:avLst/>
              <a:gdLst/>
              <a:ahLst/>
              <a:cxnLst/>
              <a:rect r="r" b="b" t="t" l="l"/>
              <a:pathLst>
                <a:path h="140119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01191"/>
                  </a:lnTo>
                  <a:lnTo>
                    <a:pt x="0" y="14011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336300" y="49186"/>
            <a:ext cx="1818639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999">
                <a:solidFill>
                  <a:srgbClr val="0000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AI-Driven Wat</a:t>
            </a:r>
            <a:r>
              <a:rPr lang="en-US" sz="4999">
                <a:solidFill>
                  <a:srgbClr val="0000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 Reservoir Analysis and Prediction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44380" y="52412"/>
            <a:ext cx="2014537" cy="862583"/>
            <a:chOff x="0" y="0"/>
            <a:chExt cx="2686049" cy="11501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86050" cy="1150112"/>
            </a:xfrm>
            <a:custGeom>
              <a:avLst/>
              <a:gdLst/>
              <a:ahLst/>
              <a:cxnLst/>
              <a:rect r="r" b="b" t="t" l="l"/>
              <a:pathLst>
                <a:path h="1150112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150112"/>
                  </a:lnTo>
                  <a:lnTo>
                    <a:pt x="0" y="1150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45" r="0" b="-4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-19232" y="1115986"/>
            <a:ext cx="19254842" cy="38100"/>
            <a:chOff x="0" y="0"/>
            <a:chExt cx="25673123" cy="50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25400" y="0"/>
              <a:ext cx="25622377" cy="50800"/>
            </a:xfrm>
            <a:custGeom>
              <a:avLst/>
              <a:gdLst/>
              <a:ahLst/>
              <a:cxnLst/>
              <a:rect r="r" b="b" t="t" l="l"/>
              <a:pathLst>
                <a:path h="50800" w="25622377">
                  <a:moveTo>
                    <a:pt x="0" y="0"/>
                  </a:moveTo>
                  <a:lnTo>
                    <a:pt x="25622377" y="0"/>
                  </a:lnTo>
                  <a:lnTo>
                    <a:pt x="256223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7531299" y="8388250"/>
            <a:ext cx="2503289" cy="993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37" b="true">
                <a:solidFill>
                  <a:srgbClr val="403CC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Name:</a:t>
            </a:r>
          </a:p>
          <a:p>
            <a:pPr algn="l">
              <a:lnSpc>
                <a:spcPts val="2688"/>
              </a:lnSpc>
            </a:pPr>
            <a:r>
              <a:rPr lang="en-US" sz="2137" b="true">
                <a:solidFill>
                  <a:srgbClr val="403CC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PRN:</a:t>
            </a:r>
          </a:p>
          <a:p>
            <a:pPr algn="l">
              <a:lnSpc>
                <a:spcPts val="2689"/>
              </a:lnSpc>
            </a:pPr>
            <a:r>
              <a:rPr lang="en-US" sz="2137" b="true">
                <a:solidFill>
                  <a:srgbClr val="403CCF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SEM and SEC: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586294" y="8295543"/>
            <a:ext cx="6873180" cy="108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1862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GAUTAM SUKHANI</a:t>
            </a:r>
          </a:p>
          <a:p>
            <a:pPr algn="l">
              <a:lnSpc>
                <a:spcPts val="2978"/>
              </a:lnSpc>
            </a:pPr>
            <a:r>
              <a:rPr lang="en-US" sz="1862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22070521059</a:t>
            </a:r>
          </a:p>
          <a:p>
            <a:pPr algn="l">
              <a:lnSpc>
                <a:spcPts val="2979"/>
              </a:lnSpc>
            </a:pPr>
            <a:r>
              <a:rPr lang="en-US" sz="1862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SEM 7, SEC 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5530" y="1457400"/>
            <a:ext cx="10078939" cy="1126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18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model was trained on  Cleaned Water Reservoir—a structured dataset comprising approximately 55,000 records and 10 columns features related to  records of multiple reservoirs with hydrological and environmental parameters.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75531" y="2698402"/>
            <a:ext cx="4943029" cy="1738908"/>
            <a:chOff x="0" y="0"/>
            <a:chExt cx="6590705" cy="23185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90665" cy="2318512"/>
            </a:xfrm>
            <a:custGeom>
              <a:avLst/>
              <a:gdLst/>
              <a:ahLst/>
              <a:cxnLst/>
              <a:rect r="r" b="b" t="t" l="l"/>
              <a:pathLst>
                <a:path h="2318512" w="6590665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407785" y="0"/>
                  </a:lnTo>
                  <a:cubicBezTo>
                    <a:pt x="6508750" y="0"/>
                    <a:pt x="6590665" y="81915"/>
                    <a:pt x="6590665" y="182880"/>
                  </a:cubicBezTo>
                  <a:lnTo>
                    <a:pt x="6590665" y="2135632"/>
                  </a:lnTo>
                  <a:cubicBezTo>
                    <a:pt x="6590665" y="2236597"/>
                    <a:pt x="6508750" y="2318512"/>
                    <a:pt x="6407785" y="2318512"/>
                  </a:cubicBezTo>
                  <a:lnTo>
                    <a:pt x="182880" y="2318512"/>
                  </a:lnTo>
                  <a:cubicBezTo>
                    <a:pt x="81915" y="2318512"/>
                    <a:pt x="0" y="2236597"/>
                    <a:pt x="0" y="2135632"/>
                  </a:cubicBez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75531" y="2822228"/>
            <a:ext cx="4943029" cy="114300"/>
            <a:chOff x="0" y="0"/>
            <a:chExt cx="6590705" cy="1524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590665" cy="152400"/>
            </a:xfrm>
            <a:custGeom>
              <a:avLst/>
              <a:gdLst/>
              <a:ahLst/>
              <a:cxnLst/>
              <a:rect r="r" b="b" t="t" l="l"/>
              <a:pathLst>
                <a:path h="152400" w="6590665">
                  <a:moveTo>
                    <a:pt x="0" y="0"/>
                  </a:moveTo>
                  <a:lnTo>
                    <a:pt x="6590665" y="0"/>
                  </a:lnTo>
                  <a:lnTo>
                    <a:pt x="6590665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" t="0" r="-5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2857500" y="2408932"/>
            <a:ext cx="578941" cy="578941"/>
            <a:chOff x="0" y="0"/>
            <a:chExt cx="771922" cy="77192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71906" cy="771906"/>
            </a:xfrm>
            <a:custGeom>
              <a:avLst/>
              <a:gdLst/>
              <a:ahLst/>
              <a:cxnLst/>
              <a:rect r="r" b="b" t="t" l="l"/>
              <a:pathLst>
                <a:path h="771906" w="771906">
                  <a:moveTo>
                    <a:pt x="0" y="0"/>
                  </a:moveTo>
                  <a:lnTo>
                    <a:pt x="771906" y="0"/>
                  </a:lnTo>
                  <a:lnTo>
                    <a:pt x="771906" y="771906"/>
                  </a:lnTo>
                  <a:lnTo>
                    <a:pt x="0" y="771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96913" y="3516488"/>
            <a:ext cx="4500116" cy="101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29" indent="-183514" lvl="1">
              <a:lnSpc>
                <a:spcPts val="2691"/>
              </a:lnSpc>
              <a:buFont typeface="Arial"/>
              <a:buChar char="•"/>
            </a:pPr>
            <a:r>
              <a:rPr lang="en-US" sz="16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16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eservoir_Name, Year, Month, Storage_Capacity, Current_Storage</a:t>
            </a:r>
          </a:p>
          <a:p>
            <a:pPr algn="l" marL="410208" indent="-205104" lvl="1">
              <a:lnSpc>
                <a:spcPts val="3008"/>
              </a:lnSpc>
              <a:buFont typeface="Arial"/>
              <a:buChar char="•"/>
            </a:pPr>
            <a:r>
              <a:rPr lang="en-US" sz="18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Rainfall_mm, Inflow_cusecs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5879381" y="2822228"/>
            <a:ext cx="4943029" cy="114300"/>
            <a:chOff x="0" y="0"/>
            <a:chExt cx="6590705" cy="1524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6590665" cy="152400"/>
            </a:xfrm>
            <a:custGeom>
              <a:avLst/>
              <a:gdLst/>
              <a:ahLst/>
              <a:cxnLst/>
              <a:rect r="r" b="b" t="t" l="l"/>
              <a:pathLst>
                <a:path h="152400" w="6590665">
                  <a:moveTo>
                    <a:pt x="0" y="0"/>
                  </a:moveTo>
                  <a:lnTo>
                    <a:pt x="6590665" y="0"/>
                  </a:lnTo>
                  <a:lnTo>
                    <a:pt x="6590665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" t="0" r="-5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675531" y="4891088"/>
            <a:ext cx="10078939" cy="114300"/>
            <a:chOff x="0" y="0"/>
            <a:chExt cx="13438585" cy="1524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3438632" cy="152400"/>
            </a:xfrm>
            <a:custGeom>
              <a:avLst/>
              <a:gdLst/>
              <a:ahLst/>
              <a:cxnLst/>
              <a:rect r="r" b="b" t="t" l="l"/>
              <a:pathLst>
                <a:path h="152400" w="13438632">
                  <a:moveTo>
                    <a:pt x="0" y="0"/>
                  </a:moveTo>
                  <a:lnTo>
                    <a:pt x="13438632" y="0"/>
                  </a:lnTo>
                  <a:lnTo>
                    <a:pt x="13438632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" r="0" b="-7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425529" y="4630191"/>
            <a:ext cx="578941" cy="578941"/>
            <a:chOff x="0" y="0"/>
            <a:chExt cx="771922" cy="77192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771906" cy="771906"/>
            </a:xfrm>
            <a:custGeom>
              <a:avLst/>
              <a:gdLst/>
              <a:ahLst/>
              <a:cxnLst/>
              <a:rect r="r" b="b" t="t" l="l"/>
              <a:pathLst>
                <a:path h="771906" w="771906">
                  <a:moveTo>
                    <a:pt x="0" y="0"/>
                  </a:moveTo>
                  <a:lnTo>
                    <a:pt x="771906" y="0"/>
                  </a:lnTo>
                  <a:lnTo>
                    <a:pt x="771906" y="771906"/>
                  </a:lnTo>
                  <a:lnTo>
                    <a:pt x="0" y="7719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675531" y="7589936"/>
            <a:ext cx="4943029" cy="28575"/>
            <a:chOff x="0" y="0"/>
            <a:chExt cx="6590705" cy="381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6590665" cy="38100"/>
            </a:xfrm>
            <a:custGeom>
              <a:avLst/>
              <a:gdLst/>
              <a:ahLst/>
              <a:cxnLst/>
              <a:rect r="r" b="b" t="t" l="l"/>
              <a:pathLst>
                <a:path h="38100" w="6590665">
                  <a:moveTo>
                    <a:pt x="0" y="0"/>
                  </a:moveTo>
                  <a:lnTo>
                    <a:pt x="6590665" y="0"/>
                  </a:lnTo>
                  <a:lnTo>
                    <a:pt x="659066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" t="0" r="-5" b="0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5811441" y="7589936"/>
            <a:ext cx="4943029" cy="28575"/>
            <a:chOff x="0" y="0"/>
            <a:chExt cx="6590705" cy="381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6590665" cy="38100"/>
            </a:xfrm>
            <a:custGeom>
              <a:avLst/>
              <a:gdLst/>
              <a:ahLst/>
              <a:cxnLst/>
              <a:rect r="r" b="b" t="t" l="l"/>
              <a:pathLst>
                <a:path h="38100" w="6590665">
                  <a:moveTo>
                    <a:pt x="0" y="0"/>
                  </a:moveTo>
                  <a:lnTo>
                    <a:pt x="6590665" y="0"/>
                  </a:lnTo>
                  <a:lnTo>
                    <a:pt x="6590665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4" t="0" r="-5" b="0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675531" y="8978950"/>
            <a:ext cx="10078939" cy="28575"/>
            <a:chOff x="0" y="0"/>
            <a:chExt cx="13438585" cy="3810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3438632" cy="38100"/>
            </a:xfrm>
            <a:custGeom>
              <a:avLst/>
              <a:gdLst/>
              <a:ahLst/>
              <a:cxnLst/>
              <a:rect r="r" b="b" t="t" l="l"/>
              <a:pathLst>
                <a:path h="38100" w="13438632">
                  <a:moveTo>
                    <a:pt x="0" y="0"/>
                  </a:moveTo>
                  <a:lnTo>
                    <a:pt x="13438632" y="0"/>
                  </a:lnTo>
                  <a:lnTo>
                    <a:pt x="13438632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7" r="0" b="-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122782" y="84111"/>
            <a:ext cx="18287999" cy="1050879"/>
            <a:chOff x="0" y="0"/>
            <a:chExt cx="24383999" cy="14011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384000" cy="1401191"/>
            </a:xfrm>
            <a:custGeom>
              <a:avLst/>
              <a:gdLst/>
              <a:ahLst/>
              <a:cxnLst/>
              <a:rect r="r" b="b" t="t" l="l"/>
              <a:pathLst>
                <a:path h="140119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01191"/>
                  </a:lnTo>
                  <a:lnTo>
                    <a:pt x="0" y="14011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-71982" y="-48445"/>
            <a:ext cx="1818639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999">
                <a:solidFill>
                  <a:srgbClr val="0000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Und</a:t>
            </a:r>
            <a:r>
              <a:rPr lang="en-US" sz="4999">
                <a:solidFill>
                  <a:srgbClr val="0000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erstanding the Data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4380" y="52412"/>
            <a:ext cx="2014537" cy="862583"/>
            <a:chOff x="0" y="0"/>
            <a:chExt cx="2686049" cy="11501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86050" cy="1150112"/>
            </a:xfrm>
            <a:custGeom>
              <a:avLst/>
              <a:gdLst/>
              <a:ahLst/>
              <a:cxnLst/>
              <a:rect r="r" b="b" t="t" l="l"/>
              <a:pathLst>
                <a:path h="1150112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150112"/>
                  </a:lnTo>
                  <a:lnTo>
                    <a:pt x="0" y="1150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5" r="0" b="-4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-19232" y="1115986"/>
            <a:ext cx="19254842" cy="38100"/>
            <a:chOff x="0" y="0"/>
            <a:chExt cx="25673123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0"/>
              <a:ext cx="25622377" cy="50800"/>
            </a:xfrm>
            <a:custGeom>
              <a:avLst/>
              <a:gdLst/>
              <a:ahLst/>
              <a:cxnLst/>
              <a:rect r="r" b="b" t="t" l="l"/>
              <a:pathLst>
                <a:path h="50800" w="25622377">
                  <a:moveTo>
                    <a:pt x="0" y="0"/>
                  </a:moveTo>
                  <a:lnTo>
                    <a:pt x="25622377" y="0"/>
                  </a:lnTo>
                  <a:lnTo>
                    <a:pt x="256223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5873" y="9574476"/>
            <a:ext cx="18288000" cy="714375"/>
          </a:xfrm>
          <a:custGeom>
            <a:avLst/>
            <a:gdLst/>
            <a:ahLst/>
            <a:cxnLst/>
            <a:rect r="r" b="b" t="t" l="l"/>
            <a:pathLst>
              <a:path h="714375" w="18288000">
                <a:moveTo>
                  <a:pt x="0" y="0"/>
                </a:moveTo>
                <a:lnTo>
                  <a:pt x="18288000" y="0"/>
                </a:lnTo>
                <a:lnTo>
                  <a:pt x="182880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58897" y="9735822"/>
            <a:ext cx="6371483" cy="410199"/>
          </a:xfrm>
          <a:custGeom>
            <a:avLst/>
            <a:gdLst/>
            <a:ahLst/>
            <a:cxnLst/>
            <a:rect r="r" b="b" t="t" l="l"/>
            <a:pathLst>
              <a:path h="410199" w="6371483">
                <a:moveTo>
                  <a:pt x="0" y="0"/>
                </a:moveTo>
                <a:lnTo>
                  <a:pt x="6371483" y="0"/>
                </a:lnTo>
                <a:lnTo>
                  <a:pt x="6371483" y="410199"/>
                </a:lnTo>
                <a:lnTo>
                  <a:pt x="0" y="41019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079" r="0" b="-1079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3896975" y="9639300"/>
            <a:ext cx="4114800" cy="576263"/>
            <a:chOff x="0" y="0"/>
            <a:chExt cx="5486400" cy="7683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44380" y="5021369"/>
            <a:ext cx="18259493" cy="4566469"/>
          </a:xfrm>
          <a:custGeom>
            <a:avLst/>
            <a:gdLst/>
            <a:ahLst/>
            <a:cxnLst/>
            <a:rect r="r" b="b" t="t" l="l"/>
            <a:pathLst>
              <a:path h="4566469" w="18259493">
                <a:moveTo>
                  <a:pt x="0" y="0"/>
                </a:moveTo>
                <a:lnTo>
                  <a:pt x="18259493" y="0"/>
                </a:lnTo>
                <a:lnTo>
                  <a:pt x="18259493" y="4566469"/>
                </a:lnTo>
                <a:lnTo>
                  <a:pt x="0" y="4566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2731" r="0" b="-2731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96913" y="3180904"/>
            <a:ext cx="2412801" cy="30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Demographics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322293" y="3180904"/>
            <a:ext cx="2502545" cy="277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874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Target </a:t>
            </a:r>
            <a:r>
              <a:rPr lang="en-US" sz="1874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Attributes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79381" y="3516488"/>
            <a:ext cx="4500116" cy="108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849"/>
              </a:lnSpc>
              <a:buFont typeface="Arial"/>
              <a:buChar char="•"/>
            </a:pPr>
            <a:r>
              <a:rPr lang="en-US" sz="17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Outfl</a:t>
            </a:r>
            <a:r>
              <a:rPr lang="en-US" sz="17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ow_cusecs, Evaporation_mm</a:t>
            </a:r>
          </a:p>
          <a:p>
            <a:pPr algn="l" marL="410208" indent="-205104" lvl="1">
              <a:lnSpc>
                <a:spcPts val="3008"/>
              </a:lnSpc>
              <a:buFont typeface="Arial"/>
              <a:buChar char="•"/>
            </a:pPr>
            <a:r>
              <a:rPr lang="en-US" sz="18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Storage_Efficiency_% (target variable)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543628" y="1665338"/>
            <a:ext cx="4410747" cy="42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49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Preprocessing Steps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543628" y="2215787"/>
            <a:ext cx="4943029" cy="1979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3166"/>
              </a:lnSpc>
              <a:buFont typeface="Arial"/>
              <a:buChar char="•"/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Missing value treatment and outlier removal</a:t>
            </a:r>
          </a:p>
          <a:p>
            <a:pPr algn="l" marL="431801" indent="-215900" lvl="1">
              <a:lnSpc>
                <a:spcPts val="3166"/>
              </a:lnSpc>
              <a:buFont typeface="Arial"/>
              <a:buChar char="•"/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Feature scaling (MinMaxScaler)</a:t>
            </a:r>
          </a:p>
          <a:p>
            <a:pPr algn="l" marL="431801" indent="-215900" lvl="1">
              <a:lnSpc>
                <a:spcPts val="3166"/>
              </a:lnSpc>
              <a:buFont typeface="Arial"/>
              <a:buChar char="•"/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Encoded categorical fields like Reservoir_Name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411091" y="9843521"/>
            <a:ext cx="1465818" cy="1468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Strong Positive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6519" y="13819882"/>
            <a:ext cx="8596164" cy="1185565"/>
            <a:chOff x="0" y="0"/>
            <a:chExt cx="11461552" cy="15807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2700"/>
              <a:ext cx="11436223" cy="1555369"/>
            </a:xfrm>
            <a:custGeom>
              <a:avLst/>
              <a:gdLst/>
              <a:ahLst/>
              <a:cxnLst/>
              <a:rect r="r" b="b" t="t" l="l"/>
              <a:pathLst>
                <a:path h="1555369" w="11436223">
                  <a:moveTo>
                    <a:pt x="0" y="121920"/>
                  </a:moveTo>
                  <a:cubicBezTo>
                    <a:pt x="0" y="54610"/>
                    <a:pt x="55372" y="0"/>
                    <a:pt x="123698" y="0"/>
                  </a:cubicBezTo>
                  <a:lnTo>
                    <a:pt x="11312525" y="0"/>
                  </a:lnTo>
                  <a:cubicBezTo>
                    <a:pt x="11380851" y="0"/>
                    <a:pt x="11436223" y="54610"/>
                    <a:pt x="11436223" y="121920"/>
                  </a:cubicBezTo>
                  <a:lnTo>
                    <a:pt x="11436223" y="1433449"/>
                  </a:lnTo>
                  <a:cubicBezTo>
                    <a:pt x="11436223" y="1500759"/>
                    <a:pt x="11380851" y="1555369"/>
                    <a:pt x="11312525" y="1555369"/>
                  </a:cubicBezTo>
                  <a:lnTo>
                    <a:pt x="123698" y="1555369"/>
                  </a:lnTo>
                  <a:cubicBezTo>
                    <a:pt x="55372" y="1555369"/>
                    <a:pt x="0" y="1500759"/>
                    <a:pt x="0" y="1433449"/>
                  </a:cubicBezTo>
                  <a:close/>
                </a:path>
              </a:pathLst>
            </a:custGeom>
            <a:solidFill>
              <a:srgbClr val="FBFA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61623" cy="1580769"/>
            </a:xfrm>
            <a:custGeom>
              <a:avLst/>
              <a:gdLst/>
              <a:ahLst/>
              <a:cxnLst/>
              <a:rect r="r" b="b" t="t" l="l"/>
              <a:pathLst>
                <a:path h="1580769" w="11461623">
                  <a:moveTo>
                    <a:pt x="0" y="134620"/>
                  </a:moveTo>
                  <a:cubicBezTo>
                    <a:pt x="0" y="60071"/>
                    <a:pt x="61214" y="0"/>
                    <a:pt x="136398" y="0"/>
                  </a:cubicBezTo>
                  <a:lnTo>
                    <a:pt x="11325225" y="0"/>
                  </a:lnTo>
                  <a:lnTo>
                    <a:pt x="11325225" y="12700"/>
                  </a:lnTo>
                  <a:lnTo>
                    <a:pt x="11325225" y="0"/>
                  </a:lnTo>
                  <a:cubicBezTo>
                    <a:pt x="11400409" y="0"/>
                    <a:pt x="11461623" y="60071"/>
                    <a:pt x="11461623" y="134620"/>
                  </a:cubicBezTo>
                  <a:lnTo>
                    <a:pt x="11448923" y="134620"/>
                  </a:lnTo>
                  <a:lnTo>
                    <a:pt x="11461623" y="134620"/>
                  </a:lnTo>
                  <a:lnTo>
                    <a:pt x="11461623" y="1446149"/>
                  </a:lnTo>
                  <a:lnTo>
                    <a:pt x="11448923" y="1446149"/>
                  </a:lnTo>
                  <a:lnTo>
                    <a:pt x="11461623" y="1446149"/>
                  </a:lnTo>
                  <a:cubicBezTo>
                    <a:pt x="11461623" y="1520698"/>
                    <a:pt x="11400409" y="1580769"/>
                    <a:pt x="11325225" y="1580769"/>
                  </a:cubicBezTo>
                  <a:lnTo>
                    <a:pt x="11325225" y="1568069"/>
                  </a:lnTo>
                  <a:lnTo>
                    <a:pt x="11325225" y="1580769"/>
                  </a:lnTo>
                  <a:lnTo>
                    <a:pt x="136398" y="1580769"/>
                  </a:lnTo>
                  <a:lnTo>
                    <a:pt x="136398" y="1568069"/>
                  </a:lnTo>
                  <a:lnTo>
                    <a:pt x="136398" y="1580769"/>
                  </a:lnTo>
                  <a:cubicBezTo>
                    <a:pt x="61214" y="1580769"/>
                    <a:pt x="0" y="1520698"/>
                    <a:pt x="0" y="1446149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46149"/>
                  </a:lnTo>
                  <a:lnTo>
                    <a:pt x="12700" y="1446149"/>
                  </a:lnTo>
                  <a:lnTo>
                    <a:pt x="25400" y="1446149"/>
                  </a:lnTo>
                  <a:cubicBezTo>
                    <a:pt x="25400" y="1506347"/>
                    <a:pt x="74930" y="1555369"/>
                    <a:pt x="136398" y="1555369"/>
                  </a:cubicBezTo>
                  <a:lnTo>
                    <a:pt x="11325225" y="1555369"/>
                  </a:lnTo>
                  <a:cubicBezTo>
                    <a:pt x="11386693" y="1555369"/>
                    <a:pt x="11436223" y="1506347"/>
                    <a:pt x="11436223" y="1446149"/>
                  </a:cubicBezTo>
                  <a:lnTo>
                    <a:pt x="11436223" y="134620"/>
                  </a:lnTo>
                  <a:cubicBezTo>
                    <a:pt x="11436223" y="74422"/>
                    <a:pt x="11386693" y="25400"/>
                    <a:pt x="11325225" y="25400"/>
                  </a:cubicBezTo>
                  <a:lnTo>
                    <a:pt x="136398" y="25400"/>
                  </a:lnTo>
                  <a:lnTo>
                    <a:pt x="136398" y="12700"/>
                  </a:lnTo>
                  <a:lnTo>
                    <a:pt x="136398" y="25400"/>
                  </a:lnTo>
                  <a:cubicBezTo>
                    <a:pt x="74930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76994" y="13829408"/>
            <a:ext cx="76200" cy="1166515"/>
            <a:chOff x="0" y="0"/>
            <a:chExt cx="101600" cy="155535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1600" cy="1555369"/>
            </a:xfrm>
            <a:custGeom>
              <a:avLst/>
              <a:gdLst/>
              <a:ahLst/>
              <a:cxnLst/>
              <a:rect r="r" b="b" t="t" l="l"/>
              <a:pathLst>
                <a:path h="1555369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555369"/>
                  </a:lnTo>
                  <a:lnTo>
                    <a:pt x="0" y="1555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2" t="0" r="-192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05318" y="13819882"/>
            <a:ext cx="8596164" cy="1185565"/>
            <a:chOff x="0" y="0"/>
            <a:chExt cx="11461552" cy="15807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11436223" cy="1555369"/>
            </a:xfrm>
            <a:custGeom>
              <a:avLst/>
              <a:gdLst/>
              <a:ahLst/>
              <a:cxnLst/>
              <a:rect r="r" b="b" t="t" l="l"/>
              <a:pathLst>
                <a:path h="1555369" w="11436223">
                  <a:moveTo>
                    <a:pt x="0" y="121920"/>
                  </a:moveTo>
                  <a:cubicBezTo>
                    <a:pt x="0" y="54610"/>
                    <a:pt x="55372" y="0"/>
                    <a:pt x="123698" y="0"/>
                  </a:cubicBezTo>
                  <a:lnTo>
                    <a:pt x="11312525" y="0"/>
                  </a:lnTo>
                  <a:cubicBezTo>
                    <a:pt x="11380851" y="0"/>
                    <a:pt x="11436223" y="54610"/>
                    <a:pt x="11436223" y="121920"/>
                  </a:cubicBezTo>
                  <a:lnTo>
                    <a:pt x="11436223" y="1433449"/>
                  </a:lnTo>
                  <a:cubicBezTo>
                    <a:pt x="11436223" y="1500759"/>
                    <a:pt x="11380851" y="1555369"/>
                    <a:pt x="11312525" y="1555369"/>
                  </a:cubicBezTo>
                  <a:lnTo>
                    <a:pt x="123698" y="1555369"/>
                  </a:lnTo>
                  <a:cubicBezTo>
                    <a:pt x="55372" y="1555369"/>
                    <a:pt x="0" y="1500759"/>
                    <a:pt x="0" y="1433449"/>
                  </a:cubicBezTo>
                  <a:close/>
                </a:path>
              </a:pathLst>
            </a:custGeom>
            <a:solidFill>
              <a:srgbClr val="FBFA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61623" cy="1580769"/>
            </a:xfrm>
            <a:custGeom>
              <a:avLst/>
              <a:gdLst/>
              <a:ahLst/>
              <a:cxnLst/>
              <a:rect r="r" b="b" t="t" l="l"/>
              <a:pathLst>
                <a:path h="1580769" w="11461623">
                  <a:moveTo>
                    <a:pt x="0" y="134620"/>
                  </a:moveTo>
                  <a:cubicBezTo>
                    <a:pt x="0" y="60071"/>
                    <a:pt x="61214" y="0"/>
                    <a:pt x="136398" y="0"/>
                  </a:cubicBezTo>
                  <a:lnTo>
                    <a:pt x="11325225" y="0"/>
                  </a:lnTo>
                  <a:lnTo>
                    <a:pt x="11325225" y="12700"/>
                  </a:lnTo>
                  <a:lnTo>
                    <a:pt x="11325225" y="0"/>
                  </a:lnTo>
                  <a:cubicBezTo>
                    <a:pt x="11400409" y="0"/>
                    <a:pt x="11461623" y="60071"/>
                    <a:pt x="11461623" y="134620"/>
                  </a:cubicBezTo>
                  <a:lnTo>
                    <a:pt x="11448923" y="134620"/>
                  </a:lnTo>
                  <a:lnTo>
                    <a:pt x="11461623" y="134620"/>
                  </a:lnTo>
                  <a:lnTo>
                    <a:pt x="11461623" y="1446149"/>
                  </a:lnTo>
                  <a:lnTo>
                    <a:pt x="11448923" y="1446149"/>
                  </a:lnTo>
                  <a:lnTo>
                    <a:pt x="11461623" y="1446149"/>
                  </a:lnTo>
                  <a:cubicBezTo>
                    <a:pt x="11461623" y="1520698"/>
                    <a:pt x="11400409" y="1580769"/>
                    <a:pt x="11325225" y="1580769"/>
                  </a:cubicBezTo>
                  <a:lnTo>
                    <a:pt x="11325225" y="1568069"/>
                  </a:lnTo>
                  <a:lnTo>
                    <a:pt x="11325225" y="1580769"/>
                  </a:lnTo>
                  <a:lnTo>
                    <a:pt x="136398" y="1580769"/>
                  </a:lnTo>
                  <a:lnTo>
                    <a:pt x="136398" y="1568069"/>
                  </a:lnTo>
                  <a:lnTo>
                    <a:pt x="136398" y="1580769"/>
                  </a:lnTo>
                  <a:cubicBezTo>
                    <a:pt x="61214" y="1580769"/>
                    <a:pt x="0" y="1520698"/>
                    <a:pt x="0" y="1446149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446149"/>
                  </a:lnTo>
                  <a:lnTo>
                    <a:pt x="12700" y="1446149"/>
                  </a:lnTo>
                  <a:lnTo>
                    <a:pt x="25400" y="1446149"/>
                  </a:lnTo>
                  <a:cubicBezTo>
                    <a:pt x="25400" y="1506347"/>
                    <a:pt x="74930" y="1555369"/>
                    <a:pt x="136398" y="1555369"/>
                  </a:cubicBezTo>
                  <a:lnTo>
                    <a:pt x="11325225" y="1555369"/>
                  </a:lnTo>
                  <a:cubicBezTo>
                    <a:pt x="11386693" y="1555369"/>
                    <a:pt x="11436223" y="1506347"/>
                    <a:pt x="11436223" y="1446149"/>
                  </a:cubicBezTo>
                  <a:lnTo>
                    <a:pt x="11436223" y="134620"/>
                  </a:lnTo>
                  <a:cubicBezTo>
                    <a:pt x="11436223" y="74422"/>
                    <a:pt x="11386693" y="25400"/>
                    <a:pt x="11325225" y="25400"/>
                  </a:cubicBezTo>
                  <a:lnTo>
                    <a:pt x="136398" y="25400"/>
                  </a:lnTo>
                  <a:lnTo>
                    <a:pt x="136398" y="12700"/>
                  </a:lnTo>
                  <a:lnTo>
                    <a:pt x="136398" y="25400"/>
                  </a:lnTo>
                  <a:cubicBezTo>
                    <a:pt x="74930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9195792" y="13829408"/>
            <a:ext cx="76200" cy="1166515"/>
            <a:chOff x="0" y="0"/>
            <a:chExt cx="101600" cy="1555353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01600" cy="1555369"/>
            </a:xfrm>
            <a:custGeom>
              <a:avLst/>
              <a:gdLst/>
              <a:ahLst/>
              <a:cxnLst/>
              <a:rect r="r" b="b" t="t" l="l"/>
              <a:pathLst>
                <a:path h="1555369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1555369"/>
                  </a:lnTo>
                  <a:lnTo>
                    <a:pt x="0" y="1555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2" t="0" r="-192" b="1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20" id="20" descr="preencoded.png">
              <a:hlinkClick r:id="rId5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-122782" y="84111"/>
            <a:ext cx="18287999" cy="1050879"/>
            <a:chOff x="0" y="0"/>
            <a:chExt cx="24383999" cy="14011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0" cy="1401191"/>
            </a:xfrm>
            <a:custGeom>
              <a:avLst/>
              <a:gdLst/>
              <a:ahLst/>
              <a:cxnLst/>
              <a:rect r="r" b="b" t="t" l="l"/>
              <a:pathLst>
                <a:path h="140119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01191"/>
                  </a:lnTo>
                  <a:lnTo>
                    <a:pt x="0" y="14011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-71982" y="-48445"/>
            <a:ext cx="1818639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999">
                <a:solidFill>
                  <a:srgbClr val="0000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Exploratory Data Analysis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4380" y="52412"/>
            <a:ext cx="2014537" cy="862583"/>
            <a:chOff x="0" y="0"/>
            <a:chExt cx="2686049" cy="11501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86050" cy="1150112"/>
            </a:xfrm>
            <a:custGeom>
              <a:avLst/>
              <a:gdLst/>
              <a:ahLst/>
              <a:cxnLst/>
              <a:rect r="r" b="b" t="t" l="l"/>
              <a:pathLst>
                <a:path h="1150112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150112"/>
                  </a:lnTo>
                  <a:lnTo>
                    <a:pt x="0" y="1150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5" r="0" b="-4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19232" y="1115986"/>
            <a:ext cx="19254842" cy="38100"/>
            <a:chOff x="0" y="0"/>
            <a:chExt cx="25673123" cy="50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25400" y="0"/>
              <a:ext cx="25622377" cy="50800"/>
            </a:xfrm>
            <a:custGeom>
              <a:avLst/>
              <a:gdLst/>
              <a:ahLst/>
              <a:cxnLst/>
              <a:rect r="r" b="b" t="t" l="l"/>
              <a:pathLst>
                <a:path h="50800" w="25622377">
                  <a:moveTo>
                    <a:pt x="0" y="0"/>
                  </a:moveTo>
                  <a:lnTo>
                    <a:pt x="25622377" y="0"/>
                  </a:lnTo>
                  <a:lnTo>
                    <a:pt x="256223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5873" y="9574476"/>
            <a:ext cx="18288000" cy="714375"/>
          </a:xfrm>
          <a:custGeom>
            <a:avLst/>
            <a:gdLst/>
            <a:ahLst/>
            <a:cxnLst/>
            <a:rect r="r" b="b" t="t" l="l"/>
            <a:pathLst>
              <a:path h="714375" w="18288000">
                <a:moveTo>
                  <a:pt x="0" y="0"/>
                </a:moveTo>
                <a:lnTo>
                  <a:pt x="18288000" y="0"/>
                </a:lnTo>
                <a:lnTo>
                  <a:pt x="182880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258897" y="9735822"/>
            <a:ext cx="6371483" cy="410199"/>
          </a:xfrm>
          <a:custGeom>
            <a:avLst/>
            <a:gdLst/>
            <a:ahLst/>
            <a:cxnLst/>
            <a:rect r="r" b="b" t="t" l="l"/>
            <a:pathLst>
              <a:path h="410199" w="6371483">
                <a:moveTo>
                  <a:pt x="0" y="0"/>
                </a:moveTo>
                <a:lnTo>
                  <a:pt x="6371483" y="0"/>
                </a:lnTo>
                <a:lnTo>
                  <a:pt x="6371483" y="410199"/>
                </a:lnTo>
                <a:lnTo>
                  <a:pt x="0" y="4101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079" r="0" b="-1079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3896975" y="9639300"/>
            <a:ext cx="4114800" cy="576263"/>
            <a:chOff x="0" y="0"/>
            <a:chExt cx="5486400" cy="76835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1317132" y="1154086"/>
            <a:ext cx="6986741" cy="4181466"/>
          </a:xfrm>
          <a:custGeom>
            <a:avLst/>
            <a:gdLst/>
            <a:ahLst/>
            <a:cxnLst/>
            <a:rect r="r" b="b" t="t" l="l"/>
            <a:pathLst>
              <a:path h="4181466" w="6986741">
                <a:moveTo>
                  <a:pt x="0" y="0"/>
                </a:moveTo>
                <a:lnTo>
                  <a:pt x="6986741" y="0"/>
                </a:lnTo>
                <a:lnTo>
                  <a:pt x="6986741" y="4181466"/>
                </a:lnTo>
                <a:lnTo>
                  <a:pt x="0" y="41814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858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239763" y="5316502"/>
            <a:ext cx="4387396" cy="4257974"/>
          </a:xfrm>
          <a:custGeom>
            <a:avLst/>
            <a:gdLst/>
            <a:ahLst/>
            <a:cxnLst/>
            <a:rect r="r" b="b" t="t" l="l"/>
            <a:pathLst>
              <a:path h="4257974" w="4387396">
                <a:moveTo>
                  <a:pt x="0" y="0"/>
                </a:moveTo>
                <a:lnTo>
                  <a:pt x="4387396" y="0"/>
                </a:lnTo>
                <a:lnTo>
                  <a:pt x="4387396" y="4257974"/>
                </a:lnTo>
                <a:lnTo>
                  <a:pt x="0" y="4257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5873" y="5316502"/>
            <a:ext cx="6223890" cy="4257974"/>
          </a:xfrm>
          <a:custGeom>
            <a:avLst/>
            <a:gdLst/>
            <a:ahLst/>
            <a:cxnLst/>
            <a:rect r="r" b="b" t="t" l="l"/>
            <a:pathLst>
              <a:path h="4257974" w="6223890">
                <a:moveTo>
                  <a:pt x="0" y="0"/>
                </a:moveTo>
                <a:lnTo>
                  <a:pt x="6223890" y="0"/>
                </a:lnTo>
                <a:lnTo>
                  <a:pt x="6223890" y="4257974"/>
                </a:lnTo>
                <a:lnTo>
                  <a:pt x="0" y="4257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873" y="1135036"/>
            <a:ext cx="11301259" cy="4181466"/>
          </a:xfrm>
          <a:custGeom>
            <a:avLst/>
            <a:gdLst/>
            <a:ahLst/>
            <a:cxnLst/>
            <a:rect r="r" b="b" t="t" l="l"/>
            <a:pathLst>
              <a:path h="4181466" w="11301259">
                <a:moveTo>
                  <a:pt x="0" y="0"/>
                </a:moveTo>
                <a:lnTo>
                  <a:pt x="11301259" y="0"/>
                </a:lnTo>
                <a:lnTo>
                  <a:pt x="11301259" y="4181466"/>
                </a:lnTo>
                <a:lnTo>
                  <a:pt x="0" y="41814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627159" y="5335552"/>
            <a:ext cx="7654942" cy="4238924"/>
          </a:xfrm>
          <a:custGeom>
            <a:avLst/>
            <a:gdLst/>
            <a:ahLst/>
            <a:cxnLst/>
            <a:rect r="r" b="b" t="t" l="l"/>
            <a:pathLst>
              <a:path h="4238924" w="7654942">
                <a:moveTo>
                  <a:pt x="0" y="0"/>
                </a:moveTo>
                <a:lnTo>
                  <a:pt x="7654942" y="0"/>
                </a:lnTo>
                <a:lnTo>
                  <a:pt x="7654942" y="4238924"/>
                </a:lnTo>
                <a:lnTo>
                  <a:pt x="0" y="423892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3306669" y="10329965"/>
            <a:ext cx="3891554" cy="49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Loss Ratio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89776" y="10329965"/>
            <a:ext cx="3891554" cy="49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Risk Score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13929" y="13990141"/>
            <a:ext cx="1771947" cy="22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Findings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13929" y="14258479"/>
            <a:ext cx="8198495" cy="26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8" indent="-80119" lvl="1">
              <a:lnSpc>
                <a:spcPts val="1750"/>
              </a:lnSpc>
              <a:buFont typeface="Arial"/>
              <a:buChar char="•"/>
            </a:pPr>
            <a:r>
              <a:rPr lang="en-US" sz="10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Higher income applicants were generally associated with </a:t>
            </a:r>
            <a:r>
              <a:rPr lang="en-US" b="true" sz="1062">
                <a:solidFill>
                  <a:srgbClr val="403CC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lower claim frequency</a:t>
            </a:r>
            <a:r>
              <a:rPr lang="en-US" sz="10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13929" y="14534852"/>
            <a:ext cx="8198495" cy="26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60238" indent="-80119" lvl="1">
              <a:lnSpc>
                <a:spcPts val="1750"/>
              </a:lnSpc>
              <a:buFont typeface="Arial"/>
              <a:buChar char="•"/>
            </a:pPr>
            <a:r>
              <a:rPr lang="en-US" b="true" sz="1062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Loss Ratio, Claim Count, and Coverage Type</a:t>
            </a:r>
            <a:r>
              <a:rPr lang="en-US" sz="10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emerged as the most significant predictors of overall risk.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432726" y="13990141"/>
            <a:ext cx="1771947" cy="22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Risk Distribution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432726" y="14258479"/>
            <a:ext cx="8198495" cy="26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dataset showed a slight class imbalance: 65% classified as low-risk applicants versus 35% as high-risk applicants.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32726" y="14570274"/>
            <a:ext cx="8198495" cy="26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062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Conclusion:</a:t>
            </a:r>
            <a:r>
              <a:rPr lang="en-US" sz="10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EDA insights successfully guided feature engineering and the selection of appropriate classification algorithms.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5" id="5">
              <a:hlinkClick r:id="rId5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411091" y="9843521"/>
            <a:ext cx="1465818" cy="1468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Strong Positive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8" id="8" descr="preencoded.png">
              <a:hlinkClick r:id="rId6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22782" y="84111"/>
            <a:ext cx="18287999" cy="1050879"/>
            <a:chOff x="0" y="0"/>
            <a:chExt cx="24383999" cy="14011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401191"/>
            </a:xfrm>
            <a:custGeom>
              <a:avLst/>
              <a:gdLst/>
              <a:ahLst/>
              <a:cxnLst/>
              <a:rect r="r" b="b" t="t" l="l"/>
              <a:pathLst>
                <a:path h="140119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01191"/>
                  </a:lnTo>
                  <a:lnTo>
                    <a:pt x="0" y="14011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674" y="123776"/>
            <a:ext cx="1818639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999">
                <a:solidFill>
                  <a:srgbClr val="0000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Linear Regression Model: Establishing the Baseline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4380" y="52412"/>
            <a:ext cx="2014537" cy="862583"/>
            <a:chOff x="0" y="0"/>
            <a:chExt cx="2686049" cy="11501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86050" cy="1150112"/>
            </a:xfrm>
            <a:custGeom>
              <a:avLst/>
              <a:gdLst/>
              <a:ahLst/>
              <a:cxnLst/>
              <a:rect r="r" b="b" t="t" l="l"/>
              <a:pathLst>
                <a:path h="1150112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150112"/>
                  </a:lnTo>
                  <a:lnTo>
                    <a:pt x="0" y="1150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5" r="0" b="-4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-9707" y="1115986"/>
            <a:ext cx="19254842" cy="38100"/>
            <a:chOff x="0" y="0"/>
            <a:chExt cx="25673123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0"/>
              <a:ext cx="25622377" cy="50800"/>
            </a:xfrm>
            <a:custGeom>
              <a:avLst/>
              <a:gdLst/>
              <a:ahLst/>
              <a:cxnLst/>
              <a:rect r="r" b="b" t="t" l="l"/>
              <a:pathLst>
                <a:path h="50800" w="25622377">
                  <a:moveTo>
                    <a:pt x="0" y="0"/>
                  </a:moveTo>
                  <a:lnTo>
                    <a:pt x="25622377" y="0"/>
                  </a:lnTo>
                  <a:lnTo>
                    <a:pt x="256223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5873" y="9574476"/>
            <a:ext cx="18288000" cy="714375"/>
          </a:xfrm>
          <a:custGeom>
            <a:avLst/>
            <a:gdLst/>
            <a:ahLst/>
            <a:cxnLst/>
            <a:rect r="r" b="b" t="t" l="l"/>
            <a:pathLst>
              <a:path h="714375" w="18288000">
                <a:moveTo>
                  <a:pt x="0" y="0"/>
                </a:moveTo>
                <a:lnTo>
                  <a:pt x="18288000" y="0"/>
                </a:lnTo>
                <a:lnTo>
                  <a:pt x="182880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8897" y="9735822"/>
            <a:ext cx="6371483" cy="410199"/>
          </a:xfrm>
          <a:custGeom>
            <a:avLst/>
            <a:gdLst/>
            <a:ahLst/>
            <a:cxnLst/>
            <a:rect r="r" b="b" t="t" l="l"/>
            <a:pathLst>
              <a:path h="410199" w="6371483">
                <a:moveTo>
                  <a:pt x="0" y="0"/>
                </a:moveTo>
                <a:lnTo>
                  <a:pt x="6371483" y="0"/>
                </a:lnTo>
                <a:lnTo>
                  <a:pt x="6371483" y="410199"/>
                </a:lnTo>
                <a:lnTo>
                  <a:pt x="0" y="4101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079" r="0" b="-1079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896975" y="9639300"/>
            <a:ext cx="4114800" cy="576263"/>
            <a:chOff x="0" y="0"/>
            <a:chExt cx="5486400" cy="7683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247996" y="1722729"/>
            <a:ext cx="6854411" cy="3808699"/>
          </a:xfrm>
          <a:custGeom>
            <a:avLst/>
            <a:gdLst/>
            <a:ahLst/>
            <a:cxnLst/>
            <a:rect r="r" b="b" t="t" l="l"/>
            <a:pathLst>
              <a:path h="3808699" w="6854411">
                <a:moveTo>
                  <a:pt x="0" y="0"/>
                </a:moveTo>
                <a:lnTo>
                  <a:pt x="6854410" y="0"/>
                </a:lnTo>
                <a:lnTo>
                  <a:pt x="6854410" y="3808700"/>
                </a:lnTo>
                <a:lnTo>
                  <a:pt x="0" y="38087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2929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412838" y="5501859"/>
            <a:ext cx="6689568" cy="3988655"/>
          </a:xfrm>
          <a:custGeom>
            <a:avLst/>
            <a:gdLst/>
            <a:ahLst/>
            <a:cxnLst/>
            <a:rect r="r" b="b" t="t" l="l"/>
            <a:pathLst>
              <a:path h="3988655" w="6689568">
                <a:moveTo>
                  <a:pt x="0" y="0"/>
                </a:moveTo>
                <a:lnTo>
                  <a:pt x="6689568" y="0"/>
                </a:lnTo>
                <a:lnTo>
                  <a:pt x="6689568" y="3988654"/>
                </a:lnTo>
                <a:lnTo>
                  <a:pt x="0" y="39886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1258861"/>
            <a:ext cx="16565904" cy="46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2"/>
              </a:lnSpc>
            </a:pPr>
            <a:r>
              <a:rPr lang="en-US" sz="247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 Linear Regression model was implemented as the initial baseline to predict the numeric Storage_Efficiency_%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7053" y="2421434"/>
            <a:ext cx="4966487" cy="882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3"/>
              </a:lnSpc>
            </a:pPr>
            <a:r>
              <a:rPr lang="en-US" sz="6733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0.74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29696" y="3458091"/>
            <a:ext cx="3241200" cy="41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2508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R-Squared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7053" y="3942421"/>
            <a:ext cx="4966487" cy="50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198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Explained variance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957659" y="2421434"/>
            <a:ext cx="4966487" cy="882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3"/>
              </a:lnSpc>
            </a:pPr>
            <a:r>
              <a:rPr lang="en-US" sz="6733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0.32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20302" y="3458091"/>
            <a:ext cx="3241200" cy="41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sz="2508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RMSE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57659" y="3942421"/>
            <a:ext cx="4966487" cy="50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198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Root Mean Square Error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7053" y="4984379"/>
            <a:ext cx="3889441" cy="495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2"/>
              </a:lnSpc>
            </a:pPr>
            <a:r>
              <a:rPr lang="en-US" sz="3036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Observations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7053" y="5653403"/>
            <a:ext cx="4812286" cy="133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56" indent="-149328" lvl="1">
              <a:lnSpc>
                <a:spcPts val="3234"/>
              </a:lnSpc>
              <a:buFont typeface="Arial"/>
              <a:buChar char="•"/>
            </a:pPr>
            <a:r>
              <a:rPr lang="en-US" sz="198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model effectively captured the primary linear trends within the data.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67053" y="6989023"/>
            <a:ext cx="4812286" cy="1586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8656" indent="-149328" lvl="1">
              <a:lnSpc>
                <a:spcPts val="3234"/>
              </a:lnSpc>
              <a:buFont typeface="Arial"/>
              <a:buChar char="•"/>
            </a:pPr>
            <a:r>
              <a:rPr lang="en-US" sz="198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Provided excellent interpretability, clearly showing the captured general trends well (rainfall → efficiency increase).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121920" y="4984379"/>
            <a:ext cx="3889441" cy="495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2"/>
              </a:lnSpc>
            </a:pPr>
            <a:r>
              <a:rPr lang="en-US" sz="3036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Conclusion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121920" y="5653403"/>
            <a:ext cx="4812286" cy="2793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198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While a good baseline, the linear regression is limited in its ability to model the complex, non-linear interactions inherent in risk assessment. Further complexity is required. Struggled with non-linear rainfall-evaporation effects.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45406" y="4388495"/>
            <a:ext cx="2669084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</a:pPr>
            <a:r>
              <a:rPr lang="en-US" sz="42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92</a:t>
            </a:r>
            <a:r>
              <a:rPr lang="en-US" sz="42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%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37320" y="2995935"/>
            <a:ext cx="3255020" cy="3255020"/>
            <a:chOff x="0" y="0"/>
            <a:chExt cx="4340027" cy="4340027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4339971" cy="4339971"/>
            </a:xfrm>
            <a:custGeom>
              <a:avLst/>
              <a:gdLst/>
              <a:ahLst/>
              <a:cxnLst/>
              <a:rect r="r" b="b" t="t" l="l"/>
              <a:pathLst>
                <a:path h="4339971" w="4339971">
                  <a:moveTo>
                    <a:pt x="0" y="0"/>
                  </a:moveTo>
                  <a:lnTo>
                    <a:pt x="4339971" y="0"/>
                  </a:lnTo>
                  <a:lnTo>
                    <a:pt x="4339971" y="4339971"/>
                  </a:lnTo>
                  <a:lnTo>
                    <a:pt x="0" y="4339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847258" y="4388495"/>
            <a:ext cx="2669084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</a:pPr>
            <a:r>
              <a:rPr lang="en-US" sz="42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0.17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4554290" y="2995935"/>
            <a:ext cx="3255020" cy="3255020"/>
            <a:chOff x="0" y="0"/>
            <a:chExt cx="4340027" cy="434002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4339971" cy="4339971"/>
            </a:xfrm>
            <a:custGeom>
              <a:avLst/>
              <a:gdLst/>
              <a:ahLst/>
              <a:cxnLst/>
              <a:rect r="r" b="b" t="t" l="l"/>
              <a:pathLst>
                <a:path h="4339971" w="4339971">
                  <a:moveTo>
                    <a:pt x="0" y="0"/>
                  </a:moveTo>
                  <a:lnTo>
                    <a:pt x="4339971" y="0"/>
                  </a:lnTo>
                  <a:lnTo>
                    <a:pt x="4339971" y="4339971"/>
                  </a:lnTo>
                  <a:lnTo>
                    <a:pt x="0" y="4339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04059" y="4388495"/>
            <a:ext cx="2669084" cy="55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</a:pPr>
            <a:r>
              <a:rPr lang="en-US" sz="425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0.393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352235" y="3035547"/>
            <a:ext cx="3255020" cy="3255020"/>
            <a:chOff x="0" y="0"/>
            <a:chExt cx="4340027" cy="434002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339971" cy="4339971"/>
            </a:xfrm>
            <a:custGeom>
              <a:avLst/>
              <a:gdLst/>
              <a:ahLst/>
              <a:cxnLst/>
              <a:rect r="r" b="b" t="t" l="l"/>
              <a:pathLst>
                <a:path h="4339971" w="4339971">
                  <a:moveTo>
                    <a:pt x="0" y="0"/>
                  </a:moveTo>
                  <a:lnTo>
                    <a:pt x="4339971" y="0"/>
                  </a:lnTo>
                  <a:lnTo>
                    <a:pt x="4339971" y="4339971"/>
                  </a:lnTo>
                  <a:lnTo>
                    <a:pt x="0" y="4339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1"/>
              </a:stretch>
            </a:blipFill>
          </p:spPr>
        </p:sp>
      </p:grp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14" id="14" descr="preencoded.png">
              <a:hlinkClick r:id="rId8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16" id="16">
              <a:hlinkClick r:id="rId9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8411091" y="9843521"/>
            <a:ext cx="1465818" cy="1468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Strong Positive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19" id="19" descr="preencoded.png">
              <a:hlinkClick r:id="rId10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122782" y="84111"/>
            <a:ext cx="18287999" cy="1050879"/>
            <a:chOff x="0" y="0"/>
            <a:chExt cx="24383999" cy="14011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384000" cy="1401191"/>
            </a:xfrm>
            <a:custGeom>
              <a:avLst/>
              <a:gdLst/>
              <a:ahLst/>
              <a:cxnLst/>
              <a:rect r="r" b="b" t="t" l="l"/>
              <a:pathLst>
                <a:path h="140119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01191"/>
                  </a:lnTo>
                  <a:lnTo>
                    <a:pt x="0" y="14011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6674" y="123776"/>
            <a:ext cx="1818639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999">
                <a:solidFill>
                  <a:srgbClr val="0000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K-Nearest Neighbors (KNN) Classifier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4380" y="52412"/>
            <a:ext cx="2014537" cy="862583"/>
            <a:chOff x="0" y="0"/>
            <a:chExt cx="2686049" cy="1150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6050" cy="1150112"/>
            </a:xfrm>
            <a:custGeom>
              <a:avLst/>
              <a:gdLst/>
              <a:ahLst/>
              <a:cxnLst/>
              <a:rect r="r" b="b" t="t" l="l"/>
              <a:pathLst>
                <a:path h="1150112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150112"/>
                  </a:lnTo>
                  <a:lnTo>
                    <a:pt x="0" y="1150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5" r="0" b="-45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5873" y="9574476"/>
            <a:ext cx="18288000" cy="714375"/>
          </a:xfrm>
          <a:custGeom>
            <a:avLst/>
            <a:gdLst/>
            <a:ahLst/>
            <a:cxnLst/>
            <a:rect r="r" b="b" t="t" l="l"/>
            <a:pathLst>
              <a:path h="714375" w="18288000">
                <a:moveTo>
                  <a:pt x="0" y="0"/>
                </a:moveTo>
                <a:lnTo>
                  <a:pt x="18288000" y="0"/>
                </a:lnTo>
                <a:lnTo>
                  <a:pt x="182880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258897" y="9735822"/>
            <a:ext cx="6371483" cy="410199"/>
          </a:xfrm>
          <a:custGeom>
            <a:avLst/>
            <a:gdLst/>
            <a:ahLst/>
            <a:cxnLst/>
            <a:rect r="r" b="b" t="t" l="l"/>
            <a:pathLst>
              <a:path h="410199" w="6371483">
                <a:moveTo>
                  <a:pt x="0" y="0"/>
                </a:moveTo>
                <a:lnTo>
                  <a:pt x="6371483" y="0"/>
                </a:lnTo>
                <a:lnTo>
                  <a:pt x="6371483" y="410199"/>
                </a:lnTo>
                <a:lnTo>
                  <a:pt x="0" y="4101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1079" r="0" b="-1079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3896975" y="9639300"/>
            <a:ext cx="4114800" cy="576263"/>
            <a:chOff x="0" y="0"/>
            <a:chExt cx="5486400" cy="7683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-19232" y="1115986"/>
            <a:ext cx="19254842" cy="38100"/>
            <a:chOff x="0" y="0"/>
            <a:chExt cx="25673123" cy="50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5400" y="0"/>
              <a:ext cx="25622377" cy="50800"/>
            </a:xfrm>
            <a:custGeom>
              <a:avLst/>
              <a:gdLst/>
              <a:ahLst/>
              <a:cxnLst/>
              <a:rect r="r" b="b" t="t" l="l"/>
              <a:pathLst>
                <a:path h="50800" w="25622377">
                  <a:moveTo>
                    <a:pt x="0" y="0"/>
                  </a:moveTo>
                  <a:lnTo>
                    <a:pt x="25622377" y="0"/>
                  </a:lnTo>
                  <a:lnTo>
                    <a:pt x="256223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11737195" y="1640270"/>
            <a:ext cx="6515877" cy="5867478"/>
          </a:xfrm>
          <a:custGeom>
            <a:avLst/>
            <a:gdLst/>
            <a:ahLst/>
            <a:cxnLst/>
            <a:rect r="r" b="b" t="t" l="l"/>
            <a:pathLst>
              <a:path h="5867478" w="6515877">
                <a:moveTo>
                  <a:pt x="0" y="0"/>
                </a:moveTo>
                <a:lnTo>
                  <a:pt x="6515877" y="0"/>
                </a:lnTo>
                <a:lnTo>
                  <a:pt x="6515877" y="5867478"/>
                </a:lnTo>
                <a:lnTo>
                  <a:pt x="0" y="586747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90240" y="1564070"/>
            <a:ext cx="16769060" cy="39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KNN was employed as a classification model to predict efficiency by nearest </a:t>
            </a: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his</a:t>
            </a: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tor</a:t>
            </a: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cal pattern</a:t>
            </a: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90240" y="2155215"/>
            <a:ext cx="16769060" cy="39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optimal value of K = 5 was determined through thorough cross-validation.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0" y="6396632"/>
            <a:ext cx="5408860" cy="36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6"/>
              </a:lnSpc>
            </a:pPr>
            <a:r>
              <a:rPr lang="en-US" sz="18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R2 Score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77370" y="6347717"/>
            <a:ext cx="5408860" cy="36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6"/>
              </a:lnSpc>
            </a:pPr>
            <a:r>
              <a:rPr lang="en-US" sz="18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RMSE Score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34171" y="6347717"/>
            <a:ext cx="5408860" cy="36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6"/>
              </a:lnSpc>
            </a:pPr>
            <a:r>
              <a:rPr lang="en-US" sz="18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MAE Score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59470" y="7261920"/>
            <a:ext cx="3255020" cy="42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Strengths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59470" y="7828509"/>
            <a:ext cx="8119914" cy="36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4658" indent="-142329" lvl="1">
              <a:lnSpc>
                <a:spcPts val="3006"/>
              </a:lnSpc>
              <a:buFont typeface="Arial"/>
              <a:buChar char="•"/>
            </a:pPr>
            <a:r>
              <a:rPr lang="en-US" sz="18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Performs well and efficiently on structured, moderate-sized datasets.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59470" y="8251478"/>
            <a:ext cx="8119914" cy="363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4538" indent="-142269" lvl="1">
              <a:lnSpc>
                <a:spcPts val="3004"/>
              </a:lnSpc>
              <a:buFont typeface="Arial"/>
              <a:buChar char="•"/>
            </a:pPr>
            <a:r>
              <a:rPr lang="en-US" sz="18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Perfor</a:t>
            </a:r>
            <a:r>
              <a:rPr lang="en-US" sz="18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ms well where reservoir behavior is regionally similar.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418141" y="7261920"/>
            <a:ext cx="3255020" cy="425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Limitations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18141" y="7828509"/>
            <a:ext cx="8119914" cy="36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4658" indent="-142329" lvl="1">
              <a:lnSpc>
                <a:spcPts val="3006"/>
              </a:lnSpc>
              <a:buFont typeface="Arial"/>
              <a:buChar char="•"/>
            </a:pPr>
            <a:r>
              <a:rPr lang="en-US" sz="18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Computationally expensive during inference for very large datasets.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418141" y="8251477"/>
            <a:ext cx="8119914" cy="74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4658" indent="-142329" lvl="1">
              <a:lnSpc>
                <a:spcPts val="3006"/>
              </a:lnSpc>
              <a:buFont typeface="Arial"/>
              <a:buChar char="•"/>
            </a:pPr>
            <a:r>
              <a:rPr lang="en-US" sz="18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Performance is highly sensitive to the initial scaling and normalization of features.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9470" y="8941445"/>
            <a:ext cx="16769060" cy="36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1887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Conclusion:</a:t>
            </a:r>
            <a:r>
              <a:rPr lang="en-US" sz="18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KNN provides a solid local classifier, effective for pattern matching, but its reliance on proximity limits global generalization and scalability.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7060" y="2437357"/>
            <a:ext cx="8109645" cy="3889772"/>
            <a:chOff x="0" y="0"/>
            <a:chExt cx="10812860" cy="51863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12780" cy="5186299"/>
            </a:xfrm>
            <a:custGeom>
              <a:avLst/>
              <a:gdLst/>
              <a:ahLst/>
              <a:cxnLst/>
              <a:rect r="r" b="b" t="t" l="l"/>
              <a:pathLst>
                <a:path h="5186299" w="10812780">
                  <a:moveTo>
                    <a:pt x="0" y="43815"/>
                  </a:moveTo>
                  <a:cubicBezTo>
                    <a:pt x="0" y="19558"/>
                    <a:pt x="19558" y="0"/>
                    <a:pt x="43815" y="0"/>
                  </a:cubicBezTo>
                  <a:lnTo>
                    <a:pt x="10768965" y="0"/>
                  </a:lnTo>
                  <a:cubicBezTo>
                    <a:pt x="10793222" y="0"/>
                    <a:pt x="10812780" y="19558"/>
                    <a:pt x="10812780" y="43815"/>
                  </a:cubicBezTo>
                  <a:lnTo>
                    <a:pt x="10812780" y="5142484"/>
                  </a:lnTo>
                  <a:cubicBezTo>
                    <a:pt x="10812780" y="5166741"/>
                    <a:pt x="10793222" y="5186299"/>
                    <a:pt x="10768965" y="5186299"/>
                  </a:cubicBezTo>
                  <a:lnTo>
                    <a:pt x="43815" y="5186299"/>
                  </a:lnTo>
                  <a:cubicBezTo>
                    <a:pt x="19558" y="5186299"/>
                    <a:pt x="0" y="5166741"/>
                    <a:pt x="0" y="5142484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7060" y="2437357"/>
            <a:ext cx="8109645" cy="1944886"/>
            <a:chOff x="0" y="0"/>
            <a:chExt cx="10812860" cy="25931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12780" cy="2593086"/>
            </a:xfrm>
            <a:custGeom>
              <a:avLst/>
              <a:gdLst/>
              <a:ahLst/>
              <a:cxnLst/>
              <a:rect r="r" b="b" t="t" l="l"/>
              <a:pathLst>
                <a:path h="2593086" w="10812780">
                  <a:moveTo>
                    <a:pt x="0" y="43815"/>
                  </a:moveTo>
                  <a:cubicBezTo>
                    <a:pt x="0" y="19685"/>
                    <a:pt x="19685" y="0"/>
                    <a:pt x="43815" y="0"/>
                  </a:cubicBezTo>
                  <a:lnTo>
                    <a:pt x="10768965" y="0"/>
                  </a:lnTo>
                  <a:cubicBezTo>
                    <a:pt x="10793222" y="0"/>
                    <a:pt x="10812780" y="19685"/>
                    <a:pt x="10812780" y="43815"/>
                  </a:cubicBezTo>
                  <a:lnTo>
                    <a:pt x="10812780" y="2549271"/>
                  </a:lnTo>
                  <a:cubicBezTo>
                    <a:pt x="10812780" y="2573528"/>
                    <a:pt x="10793095" y="2593086"/>
                    <a:pt x="10768965" y="2593086"/>
                  </a:cubicBezTo>
                  <a:lnTo>
                    <a:pt x="43815" y="2593086"/>
                  </a:lnTo>
                  <a:cubicBezTo>
                    <a:pt x="19558" y="2593086"/>
                    <a:pt x="0" y="2573401"/>
                    <a:pt x="0" y="2549271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67060" y="4382244"/>
            <a:ext cx="8109645" cy="1944886"/>
            <a:chOff x="0" y="0"/>
            <a:chExt cx="10812860" cy="25931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12907" cy="2593213"/>
            </a:xfrm>
            <a:custGeom>
              <a:avLst/>
              <a:gdLst/>
              <a:ahLst/>
              <a:cxnLst/>
              <a:rect r="r" b="b" t="t" l="l"/>
              <a:pathLst>
                <a:path h="2593213" w="10812907">
                  <a:moveTo>
                    <a:pt x="0" y="0"/>
                  </a:moveTo>
                  <a:lnTo>
                    <a:pt x="10812907" y="0"/>
                  </a:lnTo>
                  <a:lnTo>
                    <a:pt x="10812907" y="2593213"/>
                  </a:lnTo>
                  <a:lnTo>
                    <a:pt x="0" y="2593213"/>
                  </a:ln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67060" y="4382244"/>
            <a:ext cx="8109645" cy="28575"/>
            <a:chOff x="0" y="0"/>
            <a:chExt cx="10812860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2907" cy="38100"/>
            </a:xfrm>
            <a:custGeom>
              <a:avLst/>
              <a:gdLst/>
              <a:ahLst/>
              <a:cxnLst/>
              <a:rect r="r" b="b" t="t" l="l"/>
              <a:pathLst>
                <a:path h="38100" w="1081290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793857" y="0"/>
                  </a:lnTo>
                  <a:cubicBezTo>
                    <a:pt x="10804398" y="0"/>
                    <a:pt x="10812907" y="8509"/>
                    <a:pt x="10812907" y="19050"/>
                  </a:cubicBezTo>
                  <a:cubicBezTo>
                    <a:pt x="10812907" y="29591"/>
                    <a:pt x="10804398" y="38100"/>
                    <a:pt x="10793857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0CED9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11" id="11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13" id="13" descr="preencoded.png">
              <a:hlinkClick r:id="rId5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15" id="15">
              <a:hlinkClick r:id="rId6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411091" y="9843521"/>
            <a:ext cx="1465818" cy="1468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Strong Positive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18" id="18" descr="preencoded.png">
              <a:hlinkClick r:id="rId7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-122782" y="84111"/>
            <a:ext cx="18287999" cy="1050879"/>
            <a:chOff x="0" y="0"/>
            <a:chExt cx="24383999" cy="14011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0" cy="1401191"/>
            </a:xfrm>
            <a:custGeom>
              <a:avLst/>
              <a:gdLst/>
              <a:ahLst/>
              <a:cxnLst/>
              <a:rect r="r" b="b" t="t" l="l"/>
              <a:pathLst>
                <a:path h="140119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01191"/>
                  </a:lnTo>
                  <a:lnTo>
                    <a:pt x="0" y="14011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6674" y="123776"/>
            <a:ext cx="1818639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999">
                <a:solidFill>
                  <a:srgbClr val="0000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Random Forest Regressor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4380" y="52412"/>
            <a:ext cx="2014537" cy="862583"/>
            <a:chOff x="0" y="0"/>
            <a:chExt cx="2686049" cy="11501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86050" cy="1150112"/>
            </a:xfrm>
            <a:custGeom>
              <a:avLst/>
              <a:gdLst/>
              <a:ahLst/>
              <a:cxnLst/>
              <a:rect r="r" b="b" t="t" l="l"/>
              <a:pathLst>
                <a:path h="1150112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150112"/>
                  </a:lnTo>
                  <a:lnTo>
                    <a:pt x="0" y="1150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45" r="0" b="-45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5873" y="9574476"/>
            <a:ext cx="18288000" cy="714375"/>
          </a:xfrm>
          <a:custGeom>
            <a:avLst/>
            <a:gdLst/>
            <a:ahLst/>
            <a:cxnLst/>
            <a:rect r="r" b="b" t="t" l="l"/>
            <a:pathLst>
              <a:path h="714375" w="18288000">
                <a:moveTo>
                  <a:pt x="0" y="0"/>
                </a:moveTo>
                <a:lnTo>
                  <a:pt x="18288000" y="0"/>
                </a:lnTo>
                <a:lnTo>
                  <a:pt x="182880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58897" y="9735822"/>
            <a:ext cx="6371483" cy="410199"/>
          </a:xfrm>
          <a:custGeom>
            <a:avLst/>
            <a:gdLst/>
            <a:ahLst/>
            <a:cxnLst/>
            <a:rect r="r" b="b" t="t" l="l"/>
            <a:pathLst>
              <a:path h="410199" w="6371483">
                <a:moveTo>
                  <a:pt x="0" y="0"/>
                </a:moveTo>
                <a:lnTo>
                  <a:pt x="6371483" y="0"/>
                </a:lnTo>
                <a:lnTo>
                  <a:pt x="6371483" y="410199"/>
                </a:lnTo>
                <a:lnTo>
                  <a:pt x="0" y="4101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079" r="0" b="-1079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3896975" y="9639300"/>
            <a:ext cx="4114800" cy="576263"/>
            <a:chOff x="0" y="0"/>
            <a:chExt cx="5486400" cy="7683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-19232" y="1115986"/>
            <a:ext cx="19254842" cy="38100"/>
            <a:chOff x="0" y="0"/>
            <a:chExt cx="25673123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0"/>
              <a:ext cx="25622377" cy="50800"/>
            </a:xfrm>
            <a:custGeom>
              <a:avLst/>
              <a:gdLst/>
              <a:ahLst/>
              <a:cxnLst/>
              <a:rect r="r" b="b" t="t" l="l"/>
              <a:pathLst>
                <a:path h="50800" w="25622377">
                  <a:moveTo>
                    <a:pt x="0" y="0"/>
                  </a:moveTo>
                  <a:lnTo>
                    <a:pt x="25622377" y="0"/>
                  </a:lnTo>
                  <a:lnTo>
                    <a:pt x="256223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9021218" y="2234153"/>
            <a:ext cx="8782935" cy="5818694"/>
          </a:xfrm>
          <a:custGeom>
            <a:avLst/>
            <a:gdLst/>
            <a:ahLst/>
            <a:cxnLst/>
            <a:rect r="r" b="b" t="t" l="l"/>
            <a:pathLst>
              <a:path h="5818694" w="8782935">
                <a:moveTo>
                  <a:pt x="0" y="0"/>
                </a:moveTo>
                <a:lnTo>
                  <a:pt x="8782935" y="0"/>
                </a:lnTo>
                <a:lnTo>
                  <a:pt x="8782935" y="5818694"/>
                </a:lnTo>
                <a:lnTo>
                  <a:pt x="0" y="581869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767060" y="1385887"/>
            <a:ext cx="16753880" cy="79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8"/>
              </a:lnSpc>
            </a:pPr>
            <a:r>
              <a:rPr lang="en-US" sz="19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Random Forest, an ensemble model utilizing multiple decision trees with bagging, was selected to capture complex feature interactions and mitigate overfitting.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6135" y="2646907"/>
            <a:ext cx="2739926" cy="32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R2 Score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6135" y="3189386"/>
            <a:ext cx="7562404" cy="93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7"/>
              </a:lnSpc>
            </a:pPr>
            <a:r>
              <a:rPr lang="en-US" sz="593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98%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6135" y="4591794"/>
            <a:ext cx="2739926" cy="32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RMSE Score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6135" y="5134271"/>
            <a:ext cx="7562404" cy="93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7"/>
              </a:lnSpc>
            </a:pPr>
            <a:r>
              <a:rPr lang="en-US" sz="593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0.15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7060" y="6498580"/>
            <a:ext cx="3287911" cy="42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Advantages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67060" y="6976170"/>
            <a:ext cx="8109645" cy="36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4658" indent="-142329" lvl="1">
              <a:lnSpc>
                <a:spcPts val="3075"/>
              </a:lnSpc>
              <a:buFont typeface="Arial"/>
              <a:buChar char="•"/>
            </a:pPr>
            <a:r>
              <a:rPr lang="en-US" sz="18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Provides highly interpretable feature importance rankings.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67060" y="7403455"/>
            <a:ext cx="8109645" cy="36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4658" indent="-142329" lvl="1">
              <a:lnSpc>
                <a:spcPts val="3075"/>
              </a:lnSpc>
              <a:buFont typeface="Arial"/>
              <a:buChar char="•"/>
            </a:pPr>
            <a:r>
              <a:rPr lang="en-US" sz="18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Demonstrates robustness against noise, outliers, and class imbalance.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67060" y="7830741"/>
            <a:ext cx="8109645" cy="36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4658" indent="-142329" lvl="1">
              <a:lnSpc>
                <a:spcPts val="3075"/>
              </a:lnSpc>
              <a:buFont typeface="Arial"/>
              <a:buChar char="•"/>
            </a:pPr>
            <a:r>
              <a:rPr lang="en-US" sz="18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Strong generalization capabilities due to ensemble averaging.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67060" y="8494512"/>
            <a:ext cx="16358587" cy="82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1"/>
              </a:lnSpc>
            </a:pPr>
            <a:r>
              <a:rPr lang="en-US" sz="2087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Conclusion:</a:t>
            </a: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Achieved high classification accuracy with a balanced generalization, making it the best candidate for stable production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5201" y="1530399"/>
            <a:ext cx="16497300" cy="129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21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XGBoost (Extreme Gradient Boosting) was utilized for the continuous prediction of the boosted gradient model optimizing res</a:t>
            </a:r>
            <a:r>
              <a:rPr lang="en-US" sz="21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1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dual</a:t>
            </a:r>
            <a:r>
              <a:rPr lang="en-US" sz="21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21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ite</a:t>
            </a:r>
            <a:r>
              <a:rPr lang="en-US" sz="21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ativ</a:t>
            </a:r>
            <a:r>
              <a:rPr lang="en-US" sz="21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199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ly. The model was rigorously tuned using grid search for hyperparameters like learning rate and max depth.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1223" y="3644354"/>
            <a:ext cx="7251204" cy="319683"/>
            <a:chOff x="0" y="0"/>
            <a:chExt cx="9668272" cy="4262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68256" cy="426212"/>
            </a:xfrm>
            <a:custGeom>
              <a:avLst/>
              <a:gdLst/>
              <a:ahLst/>
              <a:cxnLst/>
              <a:rect r="r" b="b" t="t" l="l"/>
              <a:pathLst>
                <a:path h="426212" w="9668256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lnTo>
                    <a:pt x="9617075" y="0"/>
                  </a:lnTo>
                  <a:cubicBezTo>
                    <a:pt x="9645396" y="0"/>
                    <a:pt x="9668256" y="22860"/>
                    <a:pt x="9668256" y="51181"/>
                  </a:cubicBezTo>
                  <a:lnTo>
                    <a:pt x="9668256" y="375031"/>
                  </a:lnTo>
                  <a:cubicBezTo>
                    <a:pt x="9668256" y="403352"/>
                    <a:pt x="9645396" y="426212"/>
                    <a:pt x="9617075" y="426212"/>
                  </a:cubicBezTo>
                  <a:lnTo>
                    <a:pt x="51181" y="426212"/>
                  </a:lnTo>
                  <a:cubicBezTo>
                    <a:pt x="22860" y="426212"/>
                    <a:pt x="0" y="403352"/>
                    <a:pt x="0" y="375031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11223" y="3644354"/>
            <a:ext cx="22473" cy="319683"/>
            <a:chOff x="0" y="0"/>
            <a:chExt cx="29963" cy="426243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29972" cy="426212"/>
            </a:xfrm>
            <a:custGeom>
              <a:avLst/>
              <a:gdLst/>
              <a:ahLst/>
              <a:cxnLst/>
              <a:rect r="r" b="b" t="t" l="l"/>
              <a:pathLst>
                <a:path h="426212" w="29972">
                  <a:moveTo>
                    <a:pt x="0" y="0"/>
                  </a:moveTo>
                  <a:lnTo>
                    <a:pt x="29972" y="0"/>
                  </a:lnTo>
                  <a:lnTo>
                    <a:pt x="29972" y="426212"/>
                  </a:lnTo>
                  <a:lnTo>
                    <a:pt x="0" y="426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752" r="28" b="-975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354267" y="3691979"/>
            <a:ext cx="774948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0.16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1223" y="4207520"/>
            <a:ext cx="8088809" cy="48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RMSE (Lower is Better)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19714" y="3644354"/>
            <a:ext cx="7283054" cy="319683"/>
            <a:chOff x="0" y="0"/>
            <a:chExt cx="9710738" cy="42624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10801" cy="426212"/>
            </a:xfrm>
            <a:custGeom>
              <a:avLst/>
              <a:gdLst/>
              <a:ahLst/>
              <a:cxnLst/>
              <a:rect r="r" b="b" t="t" l="l"/>
              <a:pathLst>
                <a:path h="426212" w="9710801">
                  <a:moveTo>
                    <a:pt x="0" y="51181"/>
                  </a:moveTo>
                  <a:cubicBezTo>
                    <a:pt x="0" y="22860"/>
                    <a:pt x="22860" y="0"/>
                    <a:pt x="51181" y="0"/>
                  </a:cubicBezTo>
                  <a:lnTo>
                    <a:pt x="9659620" y="0"/>
                  </a:lnTo>
                  <a:cubicBezTo>
                    <a:pt x="9687940" y="0"/>
                    <a:pt x="9710801" y="22860"/>
                    <a:pt x="9710801" y="51181"/>
                  </a:cubicBezTo>
                  <a:lnTo>
                    <a:pt x="9710801" y="375031"/>
                  </a:lnTo>
                  <a:cubicBezTo>
                    <a:pt x="9710801" y="403352"/>
                    <a:pt x="9687940" y="426212"/>
                    <a:pt x="9659620" y="426212"/>
                  </a:cubicBezTo>
                  <a:lnTo>
                    <a:pt x="51181" y="426212"/>
                  </a:lnTo>
                  <a:cubicBezTo>
                    <a:pt x="22860" y="426212"/>
                    <a:pt x="0" y="403352"/>
                    <a:pt x="0" y="375031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319714" y="3644354"/>
            <a:ext cx="6481911" cy="319683"/>
            <a:chOff x="0" y="0"/>
            <a:chExt cx="8642548" cy="426243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8642604" cy="426212"/>
            </a:xfrm>
            <a:custGeom>
              <a:avLst/>
              <a:gdLst/>
              <a:ahLst/>
              <a:cxnLst/>
              <a:rect r="r" b="b" t="t" l="l"/>
              <a:pathLst>
                <a:path h="426212" w="8642604">
                  <a:moveTo>
                    <a:pt x="0" y="0"/>
                  </a:moveTo>
                  <a:lnTo>
                    <a:pt x="8642604" y="0"/>
                  </a:lnTo>
                  <a:lnTo>
                    <a:pt x="8642604" y="426212"/>
                  </a:lnTo>
                  <a:lnTo>
                    <a:pt x="0" y="426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15" r="0" b="-62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6793268" y="3633836"/>
            <a:ext cx="830065" cy="3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93</a:t>
            </a:r>
            <a:r>
              <a:rPr lang="en-US" sz="2499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19714" y="4207520"/>
            <a:ext cx="8088809" cy="48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R-Squared (Explained Variance)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772642" y="5635972"/>
            <a:ext cx="5499050" cy="1023194"/>
            <a:chOff x="0" y="0"/>
            <a:chExt cx="7332067" cy="136425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7332091" cy="1364234"/>
            </a:xfrm>
            <a:custGeom>
              <a:avLst/>
              <a:gdLst/>
              <a:ahLst/>
              <a:cxnLst/>
              <a:rect r="r" b="b" t="t" l="l"/>
              <a:pathLst>
                <a:path h="1364234" w="7332091">
                  <a:moveTo>
                    <a:pt x="0" y="0"/>
                  </a:moveTo>
                  <a:lnTo>
                    <a:pt x="7332091" y="0"/>
                  </a:lnTo>
                  <a:lnTo>
                    <a:pt x="7332091" y="1364234"/>
                  </a:lnTo>
                  <a:lnTo>
                    <a:pt x="0" y="1364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8" t="0" r="-168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8328" y="6895802"/>
            <a:ext cx="3197721" cy="41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Predictive Power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328" y="7391846"/>
            <a:ext cx="4987677" cy="1304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Demonstrated excellent predictive performance, surpassing the linear model.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6271692" y="5635972"/>
            <a:ext cx="5499050" cy="1023194"/>
            <a:chOff x="0" y="0"/>
            <a:chExt cx="7332067" cy="1364258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332091" cy="1364234"/>
            </a:xfrm>
            <a:custGeom>
              <a:avLst/>
              <a:gdLst/>
              <a:ahLst/>
              <a:cxnLst/>
              <a:rect r="r" b="b" t="t" l="l"/>
              <a:pathLst>
                <a:path h="1364234" w="7332091">
                  <a:moveTo>
                    <a:pt x="0" y="0"/>
                  </a:moveTo>
                  <a:lnTo>
                    <a:pt x="7332091" y="0"/>
                  </a:lnTo>
                  <a:lnTo>
                    <a:pt x="7332091" y="1364234"/>
                  </a:lnTo>
                  <a:lnTo>
                    <a:pt x="0" y="1364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8" t="0" r="-168" b="-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527380" y="6895802"/>
            <a:ext cx="3197721" cy="41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Handling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27380" y="7391846"/>
            <a:ext cx="4987677" cy="1304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Handles missing values internally, reducing the need for extensive manual imputation.</a:t>
            </a:r>
          </a:p>
        </p:txBody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1770743" y="5635972"/>
            <a:ext cx="5499050" cy="1023194"/>
            <a:chOff x="0" y="0"/>
            <a:chExt cx="7332067" cy="1364258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7332091" cy="1364234"/>
            </a:xfrm>
            <a:custGeom>
              <a:avLst/>
              <a:gdLst/>
              <a:ahLst/>
              <a:cxnLst/>
              <a:rect r="r" b="b" t="t" l="l"/>
              <a:pathLst>
                <a:path h="1364234" w="7332091">
                  <a:moveTo>
                    <a:pt x="0" y="0"/>
                  </a:moveTo>
                  <a:lnTo>
                    <a:pt x="7332091" y="0"/>
                  </a:lnTo>
                  <a:lnTo>
                    <a:pt x="7332091" y="1364234"/>
                  </a:lnTo>
                  <a:lnTo>
                    <a:pt x="0" y="1364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68" t="0" r="-168" b="-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026430" y="6895802"/>
            <a:ext cx="3197721" cy="41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Limitation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026430" y="7391846"/>
            <a:ext cx="4987678" cy="1304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Requires careful monitoring to mitigate the slight risk of overfitting on small or noisy datasets.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28" id="28" descr="preencoded.png">
              <a:hlinkClick r:id="rId8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0"/>
              </a:stretch>
            </a:blipFill>
          </p:spPr>
        </p:sp>
      </p:grp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30" id="30" descr="preencoded.png">
              <a:hlinkClick r:id="rId10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0"/>
              </a:stretch>
            </a:blipFill>
          </p:spPr>
        </p:sp>
      </p:grpSp>
      <p:grpSp>
        <p:nvGrpSpPr>
          <p:cNvPr name="Group 31" id="31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32" id="32">
              <a:hlinkClick r:id="rId11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8411091" y="9843521"/>
            <a:ext cx="1465818" cy="1468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Strong Positive</a:t>
            </a:r>
          </a:p>
        </p:txBody>
      </p: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35" id="35" descr="preencoded.png">
              <a:hlinkClick r:id="rId1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-122782" y="84111"/>
            <a:ext cx="18287999" cy="1050879"/>
            <a:chOff x="0" y="0"/>
            <a:chExt cx="24383999" cy="14011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384000" cy="1401191"/>
            </a:xfrm>
            <a:custGeom>
              <a:avLst/>
              <a:gdLst/>
              <a:ahLst/>
              <a:cxnLst/>
              <a:rect r="r" b="b" t="t" l="l"/>
              <a:pathLst>
                <a:path h="140119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01191"/>
                  </a:lnTo>
                  <a:lnTo>
                    <a:pt x="0" y="14011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66674" y="123776"/>
            <a:ext cx="1818639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999">
                <a:solidFill>
                  <a:srgbClr val="0000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XGBoost Regressor: Optimized Performance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44380" y="52412"/>
            <a:ext cx="2014537" cy="862583"/>
            <a:chOff x="0" y="0"/>
            <a:chExt cx="2686049" cy="11501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86050" cy="1150112"/>
            </a:xfrm>
            <a:custGeom>
              <a:avLst/>
              <a:gdLst/>
              <a:ahLst/>
              <a:cxnLst/>
              <a:rect r="r" b="b" t="t" l="l"/>
              <a:pathLst>
                <a:path h="1150112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150112"/>
                  </a:lnTo>
                  <a:lnTo>
                    <a:pt x="0" y="1150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45" r="0" b="-45"/>
              </a:stretch>
            </a:blip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15873" y="9574476"/>
            <a:ext cx="18288000" cy="714375"/>
          </a:xfrm>
          <a:custGeom>
            <a:avLst/>
            <a:gdLst/>
            <a:ahLst/>
            <a:cxnLst/>
            <a:rect r="r" b="b" t="t" l="l"/>
            <a:pathLst>
              <a:path h="714375" w="18288000">
                <a:moveTo>
                  <a:pt x="0" y="0"/>
                </a:moveTo>
                <a:lnTo>
                  <a:pt x="18288000" y="0"/>
                </a:lnTo>
                <a:lnTo>
                  <a:pt x="182880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58897" y="9735822"/>
            <a:ext cx="6371483" cy="410199"/>
          </a:xfrm>
          <a:custGeom>
            <a:avLst/>
            <a:gdLst/>
            <a:ahLst/>
            <a:cxnLst/>
            <a:rect r="r" b="b" t="t" l="l"/>
            <a:pathLst>
              <a:path h="410199" w="6371483">
                <a:moveTo>
                  <a:pt x="0" y="0"/>
                </a:moveTo>
                <a:lnTo>
                  <a:pt x="6371483" y="0"/>
                </a:lnTo>
                <a:lnTo>
                  <a:pt x="6371483" y="410199"/>
                </a:lnTo>
                <a:lnTo>
                  <a:pt x="0" y="4101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1079" r="0" b="-1079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3896975" y="9639300"/>
            <a:ext cx="4114800" cy="576263"/>
            <a:chOff x="0" y="0"/>
            <a:chExt cx="5486400" cy="7683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-19232" y="1115986"/>
            <a:ext cx="19254842" cy="38100"/>
            <a:chOff x="0" y="0"/>
            <a:chExt cx="25673123" cy="50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25400" y="0"/>
              <a:ext cx="25622377" cy="50800"/>
            </a:xfrm>
            <a:custGeom>
              <a:avLst/>
              <a:gdLst/>
              <a:ahLst/>
              <a:cxnLst/>
              <a:rect r="r" b="b" t="t" l="l"/>
              <a:pathLst>
                <a:path h="50800" w="25622377">
                  <a:moveTo>
                    <a:pt x="0" y="0"/>
                  </a:moveTo>
                  <a:lnTo>
                    <a:pt x="25622377" y="0"/>
                  </a:lnTo>
                  <a:lnTo>
                    <a:pt x="256223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3" id="3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7386" y="1294805"/>
            <a:ext cx="16773228" cy="810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K-Means, an unsupervised model, was applied to segment applicants into distinct risk groups, providing underwriters with clear, pre-grouped data.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7311" y="2228949"/>
            <a:ext cx="16773228" cy="39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optimal number of clusters (</a:t>
            </a:r>
            <a:r>
              <a:rPr lang="en-US" sz="2087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k=3</a:t>
            </a: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: High, Moderate, Low) was determined. Silhouette Score = 0.65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70621" y="5228927"/>
            <a:ext cx="2705249" cy="38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19"/>
              </a:lnSpc>
            </a:pPr>
            <a:r>
              <a:rPr lang="en-US" sz="2524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Cluster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7386" y="5630168"/>
            <a:ext cx="5018485" cy="810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24"/>
              </a:lnSpc>
            </a:pP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Low-efficiency — low inflow, high evaporation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208662" y="2883396"/>
            <a:ext cx="5870525" cy="5870525"/>
            <a:chOff x="0" y="0"/>
            <a:chExt cx="7827367" cy="782736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7827391" cy="7827391"/>
            </a:xfrm>
            <a:custGeom>
              <a:avLst/>
              <a:gdLst/>
              <a:ahLst/>
              <a:cxnLst/>
              <a:rect r="r" b="b" t="t" l="l"/>
              <a:pathLst>
                <a:path h="7827391" w="7827391">
                  <a:moveTo>
                    <a:pt x="0" y="0"/>
                  </a:moveTo>
                  <a:lnTo>
                    <a:pt x="7827391" y="0"/>
                  </a:lnTo>
                  <a:lnTo>
                    <a:pt x="7827391" y="7827391"/>
                  </a:lnTo>
                  <a:lnTo>
                    <a:pt x="0" y="7827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6927280" y="5656734"/>
            <a:ext cx="323701" cy="323701"/>
          </a:xfrm>
          <a:custGeom>
            <a:avLst/>
            <a:gdLst/>
            <a:ahLst/>
            <a:cxnLst/>
            <a:rect r="r" b="b" t="t" l="l"/>
            <a:pathLst>
              <a:path h="323701" w="323701">
                <a:moveTo>
                  <a:pt x="0" y="0"/>
                </a:moveTo>
                <a:lnTo>
                  <a:pt x="323701" y="0"/>
                </a:lnTo>
                <a:lnTo>
                  <a:pt x="323701" y="323701"/>
                </a:lnTo>
                <a:lnTo>
                  <a:pt x="0" y="323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470" r="0" b="-147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403782" y="3680222"/>
            <a:ext cx="2705249" cy="38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24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Cluster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03782" y="4081462"/>
            <a:ext cx="5126831" cy="810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Hig</a:t>
            </a: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h-efficiency reservoirs — high inflow and rainfall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6208662" y="2883396"/>
            <a:ext cx="5870525" cy="5870525"/>
            <a:chOff x="0" y="0"/>
            <a:chExt cx="7827367" cy="7827367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7827391" cy="7827391"/>
            </a:xfrm>
            <a:custGeom>
              <a:avLst/>
              <a:gdLst/>
              <a:ahLst/>
              <a:cxnLst/>
              <a:rect r="r" b="b" t="t" l="l"/>
              <a:pathLst>
                <a:path h="7827391" w="7827391">
                  <a:moveTo>
                    <a:pt x="0" y="0"/>
                  </a:moveTo>
                  <a:lnTo>
                    <a:pt x="7827391" y="0"/>
                  </a:lnTo>
                  <a:lnTo>
                    <a:pt x="7827391" y="7827391"/>
                  </a:lnTo>
                  <a:lnTo>
                    <a:pt x="0" y="7827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0009361" y="3877345"/>
            <a:ext cx="323701" cy="323701"/>
          </a:xfrm>
          <a:custGeom>
            <a:avLst/>
            <a:gdLst/>
            <a:ahLst/>
            <a:cxnLst/>
            <a:rect r="r" b="b" t="t" l="l"/>
            <a:pathLst>
              <a:path h="323701" w="323701">
                <a:moveTo>
                  <a:pt x="0" y="0"/>
                </a:moveTo>
                <a:lnTo>
                  <a:pt x="323701" y="0"/>
                </a:lnTo>
                <a:lnTo>
                  <a:pt x="323701" y="323701"/>
                </a:lnTo>
                <a:lnTo>
                  <a:pt x="0" y="3237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6764" t="0" r="-36764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403782" y="6777781"/>
            <a:ext cx="2705249" cy="388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24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Cluster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03782" y="7179022"/>
            <a:ext cx="5126831" cy="810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087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oderate efficiency — seasonal fluctuation</a:t>
            </a: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6208662" y="2883396"/>
            <a:ext cx="5870525" cy="5870525"/>
            <a:chOff x="0" y="0"/>
            <a:chExt cx="7827367" cy="7827367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7827391" cy="7827391"/>
            </a:xfrm>
            <a:custGeom>
              <a:avLst/>
              <a:gdLst/>
              <a:ahLst/>
              <a:cxnLst/>
              <a:rect r="r" b="b" t="t" l="l"/>
              <a:pathLst>
                <a:path h="7827391" w="7827391">
                  <a:moveTo>
                    <a:pt x="0" y="0"/>
                  </a:moveTo>
                  <a:lnTo>
                    <a:pt x="7827391" y="0"/>
                  </a:lnTo>
                  <a:lnTo>
                    <a:pt x="7827391" y="7827391"/>
                  </a:lnTo>
                  <a:lnTo>
                    <a:pt x="0" y="7827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10009361" y="7436122"/>
            <a:ext cx="323701" cy="323701"/>
          </a:xfrm>
          <a:custGeom>
            <a:avLst/>
            <a:gdLst/>
            <a:ahLst/>
            <a:cxnLst/>
            <a:rect r="r" b="b" t="t" l="l"/>
            <a:pathLst>
              <a:path h="323701" w="323701">
                <a:moveTo>
                  <a:pt x="0" y="0"/>
                </a:moveTo>
                <a:lnTo>
                  <a:pt x="323701" y="0"/>
                </a:lnTo>
                <a:lnTo>
                  <a:pt x="323701" y="323702"/>
                </a:lnTo>
                <a:lnTo>
                  <a:pt x="0" y="3237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4411" r="0" b="-4411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05681" y="8963380"/>
            <a:ext cx="15853619" cy="391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sz="20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Conclusion: </a:t>
            </a:r>
            <a:r>
              <a:rPr lang="en-US" sz="208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clustering approach is invaluable for policymakers prioritize low-performing reservoirs..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23" id="23" descr="preencoded.png">
              <a:hlinkClick r:id="rId1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25" id="25" descr="preencoded.png">
              <a:hlinkClick r:id="rId15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27" id="27">
              <a:hlinkClick r:id="rId16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8411091" y="9843521"/>
            <a:ext cx="1465818" cy="1468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Strong Positive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30" id="30" descr="preencoded.png">
              <a:hlinkClick r:id="rId17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-122782" y="84111"/>
            <a:ext cx="18287999" cy="1050879"/>
            <a:chOff x="0" y="0"/>
            <a:chExt cx="24383999" cy="14011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0" cy="1401191"/>
            </a:xfrm>
            <a:custGeom>
              <a:avLst/>
              <a:gdLst/>
              <a:ahLst/>
              <a:cxnLst/>
              <a:rect r="r" b="b" t="t" l="l"/>
              <a:pathLst>
                <a:path h="140119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01191"/>
                  </a:lnTo>
                  <a:lnTo>
                    <a:pt x="0" y="14011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66674" y="123776"/>
            <a:ext cx="1818639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999">
                <a:solidFill>
                  <a:srgbClr val="0000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K-Means Clustering: Applicant Segmentation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44380" y="52412"/>
            <a:ext cx="2014537" cy="862583"/>
            <a:chOff x="0" y="0"/>
            <a:chExt cx="2686049" cy="11501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86050" cy="1150112"/>
            </a:xfrm>
            <a:custGeom>
              <a:avLst/>
              <a:gdLst/>
              <a:ahLst/>
              <a:cxnLst/>
              <a:rect r="r" b="b" t="t" l="l"/>
              <a:pathLst>
                <a:path h="1150112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150112"/>
                  </a:lnTo>
                  <a:lnTo>
                    <a:pt x="0" y="1150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45" r="0" b="-45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5873" y="9574476"/>
            <a:ext cx="18288000" cy="714375"/>
          </a:xfrm>
          <a:custGeom>
            <a:avLst/>
            <a:gdLst/>
            <a:ahLst/>
            <a:cxnLst/>
            <a:rect r="r" b="b" t="t" l="l"/>
            <a:pathLst>
              <a:path h="714375" w="18288000">
                <a:moveTo>
                  <a:pt x="0" y="0"/>
                </a:moveTo>
                <a:lnTo>
                  <a:pt x="18288000" y="0"/>
                </a:lnTo>
                <a:lnTo>
                  <a:pt x="182880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258897" y="9735822"/>
            <a:ext cx="6371483" cy="410199"/>
          </a:xfrm>
          <a:custGeom>
            <a:avLst/>
            <a:gdLst/>
            <a:ahLst/>
            <a:cxnLst/>
            <a:rect r="r" b="b" t="t" l="l"/>
            <a:pathLst>
              <a:path h="410199" w="6371483">
                <a:moveTo>
                  <a:pt x="0" y="0"/>
                </a:moveTo>
                <a:lnTo>
                  <a:pt x="6371483" y="0"/>
                </a:lnTo>
                <a:lnTo>
                  <a:pt x="6371483" y="410199"/>
                </a:lnTo>
                <a:lnTo>
                  <a:pt x="0" y="41019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-1079" r="0" b="-1079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3896975" y="9639300"/>
            <a:ext cx="4114800" cy="576263"/>
            <a:chOff x="0" y="0"/>
            <a:chExt cx="5486400" cy="7683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-19232" y="1115986"/>
            <a:ext cx="19254842" cy="38100"/>
            <a:chOff x="0" y="0"/>
            <a:chExt cx="25673123" cy="50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25400" y="0"/>
              <a:ext cx="25622377" cy="50800"/>
            </a:xfrm>
            <a:custGeom>
              <a:avLst/>
              <a:gdLst/>
              <a:ahLst/>
              <a:cxnLst/>
              <a:rect r="r" b="b" t="t" l="l"/>
              <a:pathLst>
                <a:path h="50800" w="25622377">
                  <a:moveTo>
                    <a:pt x="0" y="0"/>
                  </a:moveTo>
                  <a:lnTo>
                    <a:pt x="25622377" y="0"/>
                  </a:lnTo>
                  <a:lnTo>
                    <a:pt x="256223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7670" y="2648429"/>
            <a:ext cx="799208" cy="1198810"/>
            <a:chOff x="0" y="0"/>
            <a:chExt cx="1065610" cy="15984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5657" cy="1598422"/>
            </a:xfrm>
            <a:custGeom>
              <a:avLst/>
              <a:gdLst/>
              <a:ahLst/>
              <a:cxnLst/>
              <a:rect r="r" b="b" t="t" l="l"/>
              <a:pathLst>
                <a:path h="1598422" w="1065657">
                  <a:moveTo>
                    <a:pt x="0" y="532765"/>
                  </a:moveTo>
                  <a:cubicBezTo>
                    <a:pt x="0" y="238506"/>
                    <a:pt x="238506" y="0"/>
                    <a:pt x="532765" y="0"/>
                  </a:cubicBezTo>
                  <a:cubicBezTo>
                    <a:pt x="827024" y="0"/>
                    <a:pt x="1065657" y="238506"/>
                    <a:pt x="1065657" y="532765"/>
                  </a:cubicBezTo>
                  <a:lnTo>
                    <a:pt x="1065657" y="1065657"/>
                  </a:lnTo>
                  <a:cubicBezTo>
                    <a:pt x="1065657" y="1359916"/>
                    <a:pt x="827151" y="1598422"/>
                    <a:pt x="532892" y="1598422"/>
                  </a:cubicBezTo>
                  <a:cubicBezTo>
                    <a:pt x="238633" y="1598422"/>
                    <a:pt x="0" y="1359916"/>
                    <a:pt x="0" y="1065657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Freeform 4" id="4" descr="preencoded.png"/>
          <p:cNvSpPr/>
          <p:nvPr/>
        </p:nvSpPr>
        <p:spPr>
          <a:xfrm flipH="false" flipV="false" rot="0">
            <a:off x="7797404" y="3098039"/>
            <a:ext cx="299591" cy="299591"/>
          </a:xfrm>
          <a:custGeom>
            <a:avLst/>
            <a:gdLst/>
            <a:ahLst/>
            <a:cxnLst/>
            <a:rect r="r" b="b" t="t" l="l"/>
            <a:pathLst>
              <a:path h="299591" w="299591">
                <a:moveTo>
                  <a:pt x="0" y="0"/>
                </a:moveTo>
                <a:lnTo>
                  <a:pt x="299591" y="0"/>
                </a:lnTo>
                <a:lnTo>
                  <a:pt x="299591" y="299591"/>
                </a:lnTo>
                <a:lnTo>
                  <a:pt x="0" y="2995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547670" y="4046967"/>
            <a:ext cx="799208" cy="1198810"/>
            <a:chOff x="0" y="0"/>
            <a:chExt cx="1065610" cy="15984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5657" cy="1598422"/>
            </a:xfrm>
            <a:custGeom>
              <a:avLst/>
              <a:gdLst/>
              <a:ahLst/>
              <a:cxnLst/>
              <a:rect r="r" b="b" t="t" l="l"/>
              <a:pathLst>
                <a:path h="1598422" w="1065657">
                  <a:moveTo>
                    <a:pt x="0" y="532765"/>
                  </a:moveTo>
                  <a:cubicBezTo>
                    <a:pt x="0" y="238506"/>
                    <a:pt x="238506" y="0"/>
                    <a:pt x="532765" y="0"/>
                  </a:cubicBezTo>
                  <a:cubicBezTo>
                    <a:pt x="827024" y="0"/>
                    <a:pt x="1065657" y="238506"/>
                    <a:pt x="1065657" y="532765"/>
                  </a:cubicBezTo>
                  <a:lnTo>
                    <a:pt x="1065657" y="1065657"/>
                  </a:lnTo>
                  <a:cubicBezTo>
                    <a:pt x="1065657" y="1359916"/>
                    <a:pt x="827151" y="1598422"/>
                    <a:pt x="532892" y="1598422"/>
                  </a:cubicBezTo>
                  <a:cubicBezTo>
                    <a:pt x="238633" y="1598422"/>
                    <a:pt x="0" y="1359916"/>
                    <a:pt x="0" y="1065657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Freeform 7" id="7" descr="preencoded.png"/>
          <p:cNvSpPr/>
          <p:nvPr/>
        </p:nvSpPr>
        <p:spPr>
          <a:xfrm flipH="false" flipV="false" rot="0">
            <a:off x="7797404" y="4496577"/>
            <a:ext cx="299591" cy="299591"/>
          </a:xfrm>
          <a:custGeom>
            <a:avLst/>
            <a:gdLst/>
            <a:ahLst/>
            <a:cxnLst/>
            <a:rect r="r" b="b" t="t" l="l"/>
            <a:pathLst>
              <a:path h="299591" w="299591">
                <a:moveTo>
                  <a:pt x="0" y="0"/>
                </a:moveTo>
                <a:lnTo>
                  <a:pt x="299591" y="0"/>
                </a:lnTo>
                <a:lnTo>
                  <a:pt x="299591" y="299592"/>
                </a:lnTo>
                <a:lnTo>
                  <a:pt x="0" y="2995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547670" y="5445505"/>
            <a:ext cx="799208" cy="1198810"/>
            <a:chOff x="0" y="0"/>
            <a:chExt cx="1065610" cy="15984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5657" cy="1598422"/>
            </a:xfrm>
            <a:custGeom>
              <a:avLst/>
              <a:gdLst/>
              <a:ahLst/>
              <a:cxnLst/>
              <a:rect r="r" b="b" t="t" l="l"/>
              <a:pathLst>
                <a:path h="1598422" w="1065657">
                  <a:moveTo>
                    <a:pt x="0" y="532765"/>
                  </a:moveTo>
                  <a:cubicBezTo>
                    <a:pt x="0" y="238506"/>
                    <a:pt x="238506" y="0"/>
                    <a:pt x="532765" y="0"/>
                  </a:cubicBezTo>
                  <a:cubicBezTo>
                    <a:pt x="827024" y="0"/>
                    <a:pt x="1065657" y="238506"/>
                    <a:pt x="1065657" y="532765"/>
                  </a:cubicBezTo>
                  <a:lnTo>
                    <a:pt x="1065657" y="1065657"/>
                  </a:lnTo>
                  <a:cubicBezTo>
                    <a:pt x="1065657" y="1359916"/>
                    <a:pt x="827151" y="1598422"/>
                    <a:pt x="532892" y="1598422"/>
                  </a:cubicBezTo>
                  <a:cubicBezTo>
                    <a:pt x="238633" y="1598422"/>
                    <a:pt x="0" y="1359916"/>
                    <a:pt x="0" y="1065657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7797404" y="5895115"/>
            <a:ext cx="299591" cy="299591"/>
          </a:xfrm>
          <a:custGeom>
            <a:avLst/>
            <a:gdLst/>
            <a:ahLst/>
            <a:cxnLst/>
            <a:rect r="r" b="b" t="t" l="l"/>
            <a:pathLst>
              <a:path h="299591" w="299591">
                <a:moveTo>
                  <a:pt x="0" y="0"/>
                </a:moveTo>
                <a:lnTo>
                  <a:pt x="299591" y="0"/>
                </a:lnTo>
                <a:lnTo>
                  <a:pt x="299591" y="299591"/>
                </a:lnTo>
                <a:lnTo>
                  <a:pt x="0" y="2995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1813" y="1277911"/>
            <a:ext cx="6128567" cy="3922283"/>
          </a:xfrm>
          <a:custGeom>
            <a:avLst/>
            <a:gdLst/>
            <a:ahLst/>
            <a:cxnLst/>
            <a:rect r="r" b="b" t="t" l="l"/>
            <a:pathLst>
              <a:path h="3922283" w="6128567">
                <a:moveTo>
                  <a:pt x="0" y="0"/>
                </a:moveTo>
                <a:lnTo>
                  <a:pt x="6128567" y="0"/>
                </a:lnTo>
                <a:lnTo>
                  <a:pt x="6128567" y="3922283"/>
                </a:lnTo>
                <a:lnTo>
                  <a:pt x="0" y="39222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816631" y="7576426"/>
            <a:ext cx="4772174" cy="220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8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Achieved the highest overall classification accuracy. While requiring more computational resources for training and careful tuning, this architecture is ideal for high-performance production environments.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14" id="14" descr="preencoded.png">
              <a:hlinkClick r:id="rId8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0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16" id="16" descr="preencoded.png">
              <a:hlinkClick r:id="rId10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18" id="18" descr="preencoded.png">
              <a:hlinkClick r:id="rId11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0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20" id="20">
              <a:hlinkClick r:id="rId1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8411091" y="9843521"/>
            <a:ext cx="1465818" cy="1468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Strong Positive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23" id="23" descr="preencoded.png">
              <a:hlinkClick r:id="rId1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122782" y="84111"/>
            <a:ext cx="18287999" cy="1050879"/>
            <a:chOff x="0" y="0"/>
            <a:chExt cx="24383999" cy="140117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384000" cy="1401191"/>
            </a:xfrm>
            <a:custGeom>
              <a:avLst/>
              <a:gdLst/>
              <a:ahLst/>
              <a:cxnLst/>
              <a:rect r="r" b="b" t="t" l="l"/>
              <a:pathLst>
                <a:path h="140119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01191"/>
                  </a:lnTo>
                  <a:lnTo>
                    <a:pt x="0" y="14011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6674" y="123776"/>
            <a:ext cx="1818639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999">
                <a:solidFill>
                  <a:srgbClr val="0000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Neural Network: Exploring Deep Learning Potential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4380" y="52412"/>
            <a:ext cx="2014537" cy="862583"/>
            <a:chOff x="0" y="0"/>
            <a:chExt cx="2686049" cy="11501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86050" cy="1150112"/>
            </a:xfrm>
            <a:custGeom>
              <a:avLst/>
              <a:gdLst/>
              <a:ahLst/>
              <a:cxnLst/>
              <a:rect r="r" b="b" t="t" l="l"/>
              <a:pathLst>
                <a:path h="1150112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150112"/>
                  </a:lnTo>
                  <a:lnTo>
                    <a:pt x="0" y="1150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45" r="0" b="-45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5873" y="9574476"/>
            <a:ext cx="18288000" cy="714375"/>
          </a:xfrm>
          <a:custGeom>
            <a:avLst/>
            <a:gdLst/>
            <a:ahLst/>
            <a:cxnLst/>
            <a:rect r="r" b="b" t="t" l="l"/>
            <a:pathLst>
              <a:path h="714375" w="18288000">
                <a:moveTo>
                  <a:pt x="0" y="0"/>
                </a:moveTo>
                <a:lnTo>
                  <a:pt x="18288000" y="0"/>
                </a:lnTo>
                <a:lnTo>
                  <a:pt x="182880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58897" y="9735822"/>
            <a:ext cx="6371483" cy="410199"/>
          </a:xfrm>
          <a:custGeom>
            <a:avLst/>
            <a:gdLst/>
            <a:ahLst/>
            <a:cxnLst/>
            <a:rect r="r" b="b" t="t" l="l"/>
            <a:pathLst>
              <a:path h="410199" w="6371483">
                <a:moveTo>
                  <a:pt x="0" y="0"/>
                </a:moveTo>
                <a:lnTo>
                  <a:pt x="6371483" y="0"/>
                </a:lnTo>
                <a:lnTo>
                  <a:pt x="6371483" y="410199"/>
                </a:lnTo>
                <a:lnTo>
                  <a:pt x="0" y="41019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1079" r="0" b="-1079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3896975" y="9639300"/>
            <a:ext cx="4114800" cy="576263"/>
            <a:chOff x="0" y="0"/>
            <a:chExt cx="5486400" cy="76835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-19232" y="1115986"/>
            <a:ext cx="19254842" cy="38100"/>
            <a:chOff x="0" y="0"/>
            <a:chExt cx="25673123" cy="50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25400" y="0"/>
              <a:ext cx="25622377" cy="50800"/>
            </a:xfrm>
            <a:custGeom>
              <a:avLst/>
              <a:gdLst/>
              <a:ahLst/>
              <a:cxnLst/>
              <a:rect r="r" b="b" t="t" l="l"/>
              <a:pathLst>
                <a:path h="50800" w="25622377">
                  <a:moveTo>
                    <a:pt x="0" y="0"/>
                  </a:moveTo>
                  <a:lnTo>
                    <a:pt x="25622377" y="0"/>
                  </a:lnTo>
                  <a:lnTo>
                    <a:pt x="256223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573998" y="5267325"/>
            <a:ext cx="6056382" cy="4307151"/>
          </a:xfrm>
          <a:custGeom>
            <a:avLst/>
            <a:gdLst/>
            <a:ahLst/>
            <a:cxnLst/>
            <a:rect r="r" b="b" t="t" l="l"/>
            <a:pathLst>
              <a:path h="4307151" w="6056382">
                <a:moveTo>
                  <a:pt x="0" y="0"/>
                </a:moveTo>
                <a:lnTo>
                  <a:pt x="6056382" y="0"/>
                </a:lnTo>
                <a:lnTo>
                  <a:pt x="6056382" y="4307151"/>
                </a:lnTo>
                <a:lnTo>
                  <a:pt x="0" y="430715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7557194" y="1385093"/>
            <a:ext cx="10031611" cy="108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18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 Deep Learning model, built using TensorFlow/Keras with three hidden layers and ReLU activation,128-64-32 neurons. represents our most complex classification architecture.</a:t>
            </a:r>
          </a:p>
          <a:p>
            <a:pPr algn="l">
              <a:lnSpc>
                <a:spcPts val="2979"/>
              </a:lnSpc>
            </a:pPr>
            <a:r>
              <a:rPr lang="en-US" sz="18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Optimizer: Adam; Loss: Mean Squared Error.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46604" y="2838631"/>
            <a:ext cx="2497485" cy="34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23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R2 Score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46604" y="3213381"/>
            <a:ext cx="9032676" cy="34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862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75</a:t>
            </a:r>
            <a:r>
              <a:rPr lang="en-US" sz="1862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%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546604" y="4237170"/>
            <a:ext cx="2497485" cy="34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23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RMSE Score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546604" y="4611919"/>
            <a:ext cx="9032676" cy="34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862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0.31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546604" y="5635707"/>
            <a:ext cx="2497485" cy="34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223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MAE Score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546604" y="6010456"/>
            <a:ext cx="9032676" cy="343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9"/>
              </a:lnSpc>
            </a:pPr>
            <a:r>
              <a:rPr lang="en-US" sz="1862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0.09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47670" y="7049724"/>
            <a:ext cx="2996953" cy="4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8"/>
              </a:lnSpc>
            </a:pPr>
            <a:r>
              <a:rPr lang="en-US" sz="261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Core Strengths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547670" y="7576426"/>
            <a:ext cx="4772174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888" indent="-140444" lvl="1">
              <a:lnSpc>
                <a:spcPts val="2979"/>
              </a:lnSpc>
              <a:buFont typeface="Arial"/>
              <a:buChar char="•"/>
            </a:pPr>
            <a:r>
              <a:rPr lang="en-US" sz="18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Exceptional ability to capture complex, non-linear feature relationships.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547670" y="8285592"/>
            <a:ext cx="4772174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888" indent="-140444" lvl="1">
              <a:lnSpc>
                <a:spcPts val="2979"/>
              </a:lnSpc>
              <a:buFont typeface="Arial"/>
              <a:buChar char="•"/>
            </a:pPr>
            <a:r>
              <a:rPr lang="en-US" sz="1862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Highly adaptable and scalable to future, massive data volumes.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816631" y="7049724"/>
            <a:ext cx="3645399" cy="41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8"/>
              </a:lnSpc>
            </a:pPr>
            <a:r>
              <a:rPr lang="en-US" sz="2612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Deployment Status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1515517"/>
            <a:ext cx="17441010" cy="2672655"/>
            <a:chOff x="0" y="0"/>
            <a:chExt cx="23006050" cy="35254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06050" cy="3525520"/>
            </a:xfrm>
            <a:custGeom>
              <a:avLst/>
              <a:gdLst/>
              <a:ahLst/>
              <a:cxnLst/>
              <a:rect r="r" b="b" t="t" l="l"/>
              <a:pathLst>
                <a:path h="3525520" w="23006050">
                  <a:moveTo>
                    <a:pt x="0" y="36195"/>
                  </a:moveTo>
                  <a:cubicBezTo>
                    <a:pt x="0" y="16129"/>
                    <a:pt x="16256" y="0"/>
                    <a:pt x="36195" y="0"/>
                  </a:cubicBezTo>
                  <a:lnTo>
                    <a:pt x="22969855" y="0"/>
                  </a:lnTo>
                  <a:lnTo>
                    <a:pt x="22969855" y="6350"/>
                  </a:lnTo>
                  <a:lnTo>
                    <a:pt x="22969855" y="0"/>
                  </a:lnTo>
                  <a:cubicBezTo>
                    <a:pt x="22989794" y="0"/>
                    <a:pt x="23006050" y="16129"/>
                    <a:pt x="23006050" y="36195"/>
                  </a:cubicBezTo>
                  <a:lnTo>
                    <a:pt x="22999700" y="36195"/>
                  </a:lnTo>
                  <a:lnTo>
                    <a:pt x="23006050" y="36195"/>
                  </a:lnTo>
                  <a:lnTo>
                    <a:pt x="23006050" y="3489325"/>
                  </a:lnTo>
                  <a:lnTo>
                    <a:pt x="22999700" y="3489325"/>
                  </a:lnTo>
                  <a:lnTo>
                    <a:pt x="23006050" y="3489325"/>
                  </a:lnTo>
                  <a:cubicBezTo>
                    <a:pt x="23006050" y="3509264"/>
                    <a:pt x="22989794" y="3525520"/>
                    <a:pt x="22969855" y="3525520"/>
                  </a:cubicBezTo>
                  <a:lnTo>
                    <a:pt x="22969855" y="3519170"/>
                  </a:lnTo>
                  <a:lnTo>
                    <a:pt x="22969855" y="3525520"/>
                  </a:lnTo>
                  <a:lnTo>
                    <a:pt x="36195" y="3525520"/>
                  </a:lnTo>
                  <a:lnTo>
                    <a:pt x="36195" y="3519170"/>
                  </a:lnTo>
                  <a:lnTo>
                    <a:pt x="36195" y="3525520"/>
                  </a:lnTo>
                  <a:cubicBezTo>
                    <a:pt x="16256" y="3525520"/>
                    <a:pt x="0" y="3509391"/>
                    <a:pt x="0" y="3489325"/>
                  </a:cubicBezTo>
                  <a:lnTo>
                    <a:pt x="0" y="36195"/>
                  </a:lnTo>
                  <a:lnTo>
                    <a:pt x="6350" y="36195"/>
                  </a:lnTo>
                  <a:lnTo>
                    <a:pt x="0" y="36195"/>
                  </a:lnTo>
                  <a:moveTo>
                    <a:pt x="12700" y="36195"/>
                  </a:moveTo>
                  <a:lnTo>
                    <a:pt x="12700" y="3489325"/>
                  </a:lnTo>
                  <a:lnTo>
                    <a:pt x="6350" y="3489325"/>
                  </a:lnTo>
                  <a:lnTo>
                    <a:pt x="12700" y="3489325"/>
                  </a:lnTo>
                  <a:cubicBezTo>
                    <a:pt x="12700" y="3502279"/>
                    <a:pt x="23241" y="3512820"/>
                    <a:pt x="36195" y="3512820"/>
                  </a:cubicBezTo>
                  <a:lnTo>
                    <a:pt x="22969855" y="3512820"/>
                  </a:lnTo>
                  <a:cubicBezTo>
                    <a:pt x="22982810" y="3512820"/>
                    <a:pt x="22993350" y="3502279"/>
                    <a:pt x="22993350" y="3489325"/>
                  </a:cubicBezTo>
                  <a:lnTo>
                    <a:pt x="22993350" y="36195"/>
                  </a:lnTo>
                  <a:cubicBezTo>
                    <a:pt x="22993350" y="23241"/>
                    <a:pt x="22982810" y="12700"/>
                    <a:pt x="22969855" y="12700"/>
                  </a:cubicBezTo>
                  <a:lnTo>
                    <a:pt x="36195" y="12700"/>
                  </a:lnTo>
                  <a:lnTo>
                    <a:pt x="36195" y="6350"/>
                  </a:lnTo>
                  <a:lnTo>
                    <a:pt x="36195" y="12700"/>
                  </a:lnTo>
                  <a:cubicBezTo>
                    <a:pt x="23241" y="12700"/>
                    <a:pt x="12700" y="23241"/>
                    <a:pt x="12700" y="36195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28792" y="1529959"/>
            <a:ext cx="17412126" cy="440629"/>
            <a:chOff x="0" y="0"/>
            <a:chExt cx="22967950" cy="5812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967950" cy="581279"/>
            </a:xfrm>
            <a:custGeom>
              <a:avLst/>
              <a:gdLst/>
              <a:ahLst/>
              <a:cxnLst/>
              <a:rect r="r" b="b" t="t" l="l"/>
              <a:pathLst>
                <a:path h="581279" w="22967950">
                  <a:moveTo>
                    <a:pt x="0" y="0"/>
                  </a:moveTo>
                  <a:lnTo>
                    <a:pt x="22967950" y="0"/>
                  </a:lnTo>
                  <a:lnTo>
                    <a:pt x="22967950" y="581279"/>
                  </a:lnTo>
                  <a:lnTo>
                    <a:pt x="0" y="58127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79680" y="1534599"/>
            <a:ext cx="3176317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Linear Regression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66798" y="1534599"/>
            <a:ext cx="2300927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R² = 74%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78528" y="1534599"/>
            <a:ext cx="5783382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Simple, interpretable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72711" y="1534599"/>
            <a:ext cx="4917620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Misses non-linearity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28792" y="1970588"/>
            <a:ext cx="17412126" cy="440629"/>
            <a:chOff x="0" y="0"/>
            <a:chExt cx="22967950" cy="5812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967950" cy="581279"/>
            </a:xfrm>
            <a:custGeom>
              <a:avLst/>
              <a:gdLst/>
              <a:ahLst/>
              <a:cxnLst/>
              <a:rect r="r" b="b" t="t" l="l"/>
              <a:pathLst>
                <a:path h="581279" w="22967950">
                  <a:moveTo>
                    <a:pt x="0" y="0"/>
                  </a:moveTo>
                  <a:lnTo>
                    <a:pt x="22967950" y="0"/>
                  </a:lnTo>
                  <a:lnTo>
                    <a:pt x="22967950" y="581279"/>
                  </a:lnTo>
                  <a:lnTo>
                    <a:pt x="0" y="581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79680" y="1975227"/>
            <a:ext cx="3176317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KNN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66798" y="1975227"/>
            <a:ext cx="2300927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R²</a:t>
            </a: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= 92%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78528" y="1975227"/>
            <a:ext cx="5783382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Easy to implement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72711" y="1975227"/>
            <a:ext cx="4917620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Slow for large data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28792" y="2411216"/>
            <a:ext cx="17412126" cy="440629"/>
            <a:chOff x="0" y="0"/>
            <a:chExt cx="22967950" cy="58122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967950" cy="581279"/>
            </a:xfrm>
            <a:custGeom>
              <a:avLst/>
              <a:gdLst/>
              <a:ahLst/>
              <a:cxnLst/>
              <a:rect r="r" b="b" t="t" l="l"/>
              <a:pathLst>
                <a:path h="581279" w="22967950">
                  <a:moveTo>
                    <a:pt x="0" y="0"/>
                  </a:moveTo>
                  <a:lnTo>
                    <a:pt x="22967950" y="0"/>
                  </a:lnTo>
                  <a:lnTo>
                    <a:pt x="22967950" y="581279"/>
                  </a:lnTo>
                  <a:lnTo>
                    <a:pt x="0" y="58127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79680" y="2415856"/>
            <a:ext cx="3176317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Random Forest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66798" y="2415856"/>
            <a:ext cx="2300927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R²</a:t>
            </a: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= 98%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8528" y="2415856"/>
            <a:ext cx="5783382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Best performance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72711" y="2415856"/>
            <a:ext cx="4917620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Slower training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28792" y="2851845"/>
            <a:ext cx="17412126" cy="440629"/>
            <a:chOff x="0" y="0"/>
            <a:chExt cx="22967950" cy="58122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967950" cy="581279"/>
            </a:xfrm>
            <a:custGeom>
              <a:avLst/>
              <a:gdLst/>
              <a:ahLst/>
              <a:cxnLst/>
              <a:rect r="r" b="b" t="t" l="l"/>
              <a:pathLst>
                <a:path h="581279" w="22967950">
                  <a:moveTo>
                    <a:pt x="0" y="0"/>
                  </a:moveTo>
                  <a:lnTo>
                    <a:pt x="22967950" y="0"/>
                  </a:lnTo>
                  <a:lnTo>
                    <a:pt x="22967950" y="581279"/>
                  </a:lnTo>
                  <a:lnTo>
                    <a:pt x="0" y="581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79680" y="2856484"/>
            <a:ext cx="3176317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XGBoost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66798" y="2856484"/>
            <a:ext cx="2300927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R² = 93%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78528" y="2856484"/>
            <a:ext cx="5783382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Balanced performance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72711" y="2856484"/>
            <a:ext cx="4917620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Slight overfitting risk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28792" y="3292474"/>
            <a:ext cx="17412126" cy="440629"/>
            <a:chOff x="0" y="0"/>
            <a:chExt cx="22967950" cy="58122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967950" cy="581279"/>
            </a:xfrm>
            <a:custGeom>
              <a:avLst/>
              <a:gdLst/>
              <a:ahLst/>
              <a:cxnLst/>
              <a:rect r="r" b="b" t="t" l="l"/>
              <a:pathLst>
                <a:path h="581279" w="22967950">
                  <a:moveTo>
                    <a:pt x="0" y="0"/>
                  </a:moveTo>
                  <a:lnTo>
                    <a:pt x="22967950" y="0"/>
                  </a:lnTo>
                  <a:lnTo>
                    <a:pt x="22967950" y="581279"/>
                  </a:lnTo>
                  <a:lnTo>
                    <a:pt x="0" y="58127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679680" y="3297113"/>
            <a:ext cx="3176317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K-Means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166798" y="3297113"/>
            <a:ext cx="2300927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Silhouette</a:t>
            </a: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= 0.65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78528" y="3297113"/>
            <a:ext cx="5783382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Segmented Reserviors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72711" y="3297113"/>
            <a:ext cx="4917620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Needs manual K selection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28792" y="3733102"/>
            <a:ext cx="17412126" cy="440629"/>
            <a:chOff x="0" y="0"/>
            <a:chExt cx="22967950" cy="58122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967950" cy="581279"/>
            </a:xfrm>
            <a:custGeom>
              <a:avLst/>
              <a:gdLst/>
              <a:ahLst/>
              <a:cxnLst/>
              <a:rect r="r" b="b" t="t" l="l"/>
              <a:pathLst>
                <a:path h="581279" w="22967950">
                  <a:moveTo>
                    <a:pt x="0" y="0"/>
                  </a:moveTo>
                  <a:lnTo>
                    <a:pt x="22967950" y="0"/>
                  </a:lnTo>
                  <a:lnTo>
                    <a:pt x="22967950" y="581279"/>
                  </a:lnTo>
                  <a:lnTo>
                    <a:pt x="0" y="581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679680" y="3737743"/>
            <a:ext cx="3176317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Neural Network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166798" y="3737743"/>
            <a:ext cx="2300927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R²</a:t>
            </a: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= 72%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778528" y="3737743"/>
            <a:ext cx="5783382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Captures complexity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72711" y="3737743"/>
            <a:ext cx="4917620" cy="384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1945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Heavy computation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16731" y="4542556"/>
            <a:ext cx="3608635" cy="49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49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Synthesis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12349" y="5048250"/>
            <a:ext cx="17245012" cy="171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338" indent="-160169" lvl="1">
              <a:lnSpc>
                <a:spcPts val="3540"/>
              </a:lnSpc>
              <a:buFont typeface="Arial"/>
              <a:buChar char="•"/>
            </a:pPr>
            <a:r>
              <a:rPr lang="en-US" sz="21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Random Forest </a:t>
            </a:r>
            <a:r>
              <a:rPr lang="en-US" sz="21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achieved the best predictive accuracy.</a:t>
            </a:r>
          </a:p>
          <a:p>
            <a:pPr algn="l" marL="320338" indent="-160169" lvl="1">
              <a:lnSpc>
                <a:spcPts val="3540"/>
              </a:lnSpc>
              <a:buFont typeface="Arial"/>
              <a:buChar char="•"/>
            </a:pPr>
            <a:r>
              <a:rPr lang="en-US" sz="21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XGBoost </a:t>
            </a:r>
            <a:r>
              <a:rPr lang="en-US" sz="21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provided strong interpretability and balanced performance.</a:t>
            </a:r>
          </a:p>
          <a:p>
            <a:pPr algn="l" marL="320473" indent="-160236" lvl="1">
              <a:lnSpc>
                <a:spcPts val="3541"/>
              </a:lnSpc>
              <a:buFont typeface="Arial"/>
              <a:buChar char="•"/>
            </a:pPr>
            <a:r>
              <a:rPr lang="en-US" sz="21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K-Means added useful grouping insights for management planning.</a:t>
            </a:r>
          </a:p>
          <a:p>
            <a:pPr algn="l">
              <a:lnSpc>
                <a:spcPts val="3207"/>
              </a:lnSpc>
            </a:pPr>
          </a:p>
        </p:txBody>
      </p:sp>
      <p:grpSp>
        <p:nvGrpSpPr>
          <p:cNvPr name="Group 42" id="42"/>
          <p:cNvGrpSpPr/>
          <p:nvPr/>
        </p:nvGrpSpPr>
        <p:grpSpPr>
          <a:xfrm rot="0">
            <a:off x="358324" y="6568572"/>
            <a:ext cx="17245012" cy="858440"/>
            <a:chOff x="0" y="0"/>
            <a:chExt cx="22993350" cy="114458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993350" cy="1144651"/>
            </a:xfrm>
            <a:custGeom>
              <a:avLst/>
              <a:gdLst/>
              <a:ahLst/>
              <a:cxnLst/>
              <a:rect r="r" b="b" t="t" l="l"/>
              <a:pathLst>
                <a:path h="1144651" w="22993350">
                  <a:moveTo>
                    <a:pt x="0" y="476885"/>
                  </a:moveTo>
                  <a:cubicBezTo>
                    <a:pt x="0" y="213487"/>
                    <a:pt x="213487" y="0"/>
                    <a:pt x="476885" y="0"/>
                  </a:cubicBezTo>
                  <a:lnTo>
                    <a:pt x="22516464" y="0"/>
                  </a:lnTo>
                  <a:cubicBezTo>
                    <a:pt x="22779862" y="0"/>
                    <a:pt x="22993350" y="213487"/>
                    <a:pt x="22993350" y="476885"/>
                  </a:cubicBezTo>
                  <a:lnTo>
                    <a:pt x="22993350" y="667766"/>
                  </a:lnTo>
                  <a:cubicBezTo>
                    <a:pt x="22993350" y="931164"/>
                    <a:pt x="22779862" y="1144651"/>
                    <a:pt x="22516464" y="1144651"/>
                  </a:cubicBezTo>
                  <a:lnTo>
                    <a:pt x="476885" y="1144651"/>
                  </a:lnTo>
                  <a:cubicBezTo>
                    <a:pt x="213487" y="1144524"/>
                    <a:pt x="0" y="931164"/>
                    <a:pt x="0" y="667766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64475" y="6666054"/>
            <a:ext cx="3190289" cy="344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1"/>
              </a:lnSpc>
            </a:pPr>
            <a:r>
              <a:rPr lang="en-US" sz="2237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Efficiency Gains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64475" y="6902542"/>
            <a:ext cx="16947059" cy="38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19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AI-based models are projected to improve efficiency by </a:t>
            </a:r>
            <a:r>
              <a:rPr lang="en-US" sz="1924" b="true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30–40%</a:t>
            </a:r>
            <a:r>
              <a:rPr lang="en-US" sz="19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58324" y="7554133"/>
            <a:ext cx="7192878" cy="402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49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Scope: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411091" y="9843521"/>
            <a:ext cx="1465818" cy="1468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Strong Positive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-122782" y="84111"/>
            <a:ext cx="18287999" cy="1050879"/>
            <a:chOff x="0" y="0"/>
            <a:chExt cx="24383999" cy="14011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84000" cy="1401191"/>
            </a:xfrm>
            <a:custGeom>
              <a:avLst/>
              <a:gdLst/>
              <a:ahLst/>
              <a:cxnLst/>
              <a:rect r="r" b="b" t="t" l="l"/>
              <a:pathLst>
                <a:path h="140119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01191"/>
                  </a:lnTo>
                  <a:lnTo>
                    <a:pt x="0" y="140119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66674" y="123776"/>
            <a:ext cx="1818639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999">
                <a:solidFill>
                  <a:srgbClr val="0000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Performance Comparison and Key Takeaways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44380" y="52412"/>
            <a:ext cx="2014537" cy="862583"/>
            <a:chOff x="0" y="0"/>
            <a:chExt cx="2686049" cy="115011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86050" cy="1150112"/>
            </a:xfrm>
            <a:custGeom>
              <a:avLst/>
              <a:gdLst/>
              <a:ahLst/>
              <a:cxnLst/>
              <a:rect r="r" b="b" t="t" l="l"/>
              <a:pathLst>
                <a:path h="1150112" w="2686050">
                  <a:moveTo>
                    <a:pt x="0" y="0"/>
                  </a:moveTo>
                  <a:lnTo>
                    <a:pt x="2686050" y="0"/>
                  </a:lnTo>
                  <a:lnTo>
                    <a:pt x="2686050" y="1150112"/>
                  </a:lnTo>
                  <a:lnTo>
                    <a:pt x="0" y="1150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5" r="0" b="-45"/>
              </a:stretch>
            </a:blip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15873" y="9572625"/>
            <a:ext cx="18288000" cy="714375"/>
          </a:xfrm>
          <a:custGeom>
            <a:avLst/>
            <a:gdLst/>
            <a:ahLst/>
            <a:cxnLst/>
            <a:rect r="r" b="b" t="t" l="l"/>
            <a:pathLst>
              <a:path h="714375" w="18288000">
                <a:moveTo>
                  <a:pt x="0" y="0"/>
                </a:moveTo>
                <a:lnTo>
                  <a:pt x="18288000" y="0"/>
                </a:lnTo>
                <a:lnTo>
                  <a:pt x="18288000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258897" y="9735822"/>
            <a:ext cx="6371483" cy="410199"/>
          </a:xfrm>
          <a:custGeom>
            <a:avLst/>
            <a:gdLst/>
            <a:ahLst/>
            <a:cxnLst/>
            <a:rect r="r" b="b" t="t" l="l"/>
            <a:pathLst>
              <a:path h="410199" w="6371483">
                <a:moveTo>
                  <a:pt x="0" y="0"/>
                </a:moveTo>
                <a:lnTo>
                  <a:pt x="6371483" y="0"/>
                </a:lnTo>
                <a:lnTo>
                  <a:pt x="6371483" y="410199"/>
                </a:lnTo>
                <a:lnTo>
                  <a:pt x="0" y="410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079" r="0" b="-1079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-19232" y="1115986"/>
            <a:ext cx="19254842" cy="38100"/>
            <a:chOff x="0" y="0"/>
            <a:chExt cx="25673123" cy="50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25400" y="0"/>
              <a:ext cx="25622377" cy="50800"/>
            </a:xfrm>
            <a:custGeom>
              <a:avLst/>
              <a:gdLst/>
              <a:ahLst/>
              <a:cxnLst/>
              <a:rect r="r" b="b" t="t" l="l"/>
              <a:pathLst>
                <a:path h="50800" w="25622377">
                  <a:moveTo>
                    <a:pt x="0" y="0"/>
                  </a:moveTo>
                  <a:lnTo>
                    <a:pt x="25622377" y="0"/>
                  </a:lnTo>
                  <a:lnTo>
                    <a:pt x="256223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896975" y="9639300"/>
            <a:ext cx="4114800" cy="576263"/>
            <a:chOff x="0" y="0"/>
            <a:chExt cx="5486400" cy="76835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521494" y="8049932"/>
            <a:ext cx="17245012" cy="131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338" indent="-160169" lvl="1">
              <a:lnSpc>
                <a:spcPts val="3540"/>
              </a:lnSpc>
              <a:buFont typeface="Arial"/>
              <a:buChar char="•"/>
            </a:pPr>
            <a:r>
              <a:rPr lang="en-US" sz="21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</a:t>
            </a:r>
            <a:r>
              <a:rPr lang="en-US" sz="21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tegrate satellite rainfall data.</a:t>
            </a:r>
          </a:p>
          <a:p>
            <a:pPr algn="l" marL="320338" indent="-160169" lvl="1">
              <a:lnSpc>
                <a:spcPts val="3540"/>
              </a:lnSpc>
              <a:buFont typeface="Arial"/>
              <a:buChar char="•"/>
            </a:pPr>
            <a:r>
              <a:rPr lang="en-US" sz="21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Deploy model as web dashboard.</a:t>
            </a:r>
          </a:p>
          <a:p>
            <a:pPr algn="l" marL="320338" indent="-160169" lvl="1">
              <a:lnSpc>
                <a:spcPts val="3540"/>
              </a:lnSpc>
              <a:buFont typeface="Arial"/>
              <a:buChar char="•"/>
            </a:pPr>
            <a:r>
              <a:rPr lang="en-US" sz="2124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Add anomaly detection for real-time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DAG3j8nHvQ4</dc:identifier>
  <dcterms:modified xsi:type="dcterms:W3CDTF">2011-08-01T06:04:30Z</dcterms:modified>
  <cp:revision>1</cp:revision>
  <dc:title>Underwriting-Assistant-A-GenAI-Powered-Risk-Assessment-System.pptx</dc:title>
</cp:coreProperties>
</file>